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b="0">
                <a:solidFill>
                  <a:srgbClr val="111111"/>
                </a:solidFill>
                <a:latin typeface="Arial"/>
                <a:ea typeface="Arial"/>
                <a:cs typeface="Arial"/>
              </a:rPr>
              <a:t>Buenas. Soy Santiago Espinosa, de Cali, y propongo la cláusula de lluvia del fiado.</a:t>
            </a:r>
          </a:p>
          <a:p>
            <a:pPr algn="l"/>
            <a:r>
              <a:rPr sz="1200" b="0">
                <a:solidFill>
                  <a:srgbClr val="111111"/>
                </a:solidFill>
                <a:latin typeface="Arial"/>
                <a:ea typeface="Arial"/>
                <a:cs typeface="Arial"/>
              </a:rPr>
              <a:t>Al vendedor de carrito no le falta crédito. Le falta que un día de lluvia no cuente como quedar mal.</a:t>
            </a:r>
          </a:p>
          <a:p>
            <a:pPr algn="l"/>
            <a:r>
              <a:rPr sz="1200" b="0">
                <a:solidFill>
                  <a:srgbClr val="111111"/>
                </a:solidFill>
                <a:latin typeface="Arial"/>
                <a:ea typeface="Arial"/>
                <a:cs typeface="Arial"/>
              </a:rPr>
              <a:t>Mi usuario saca fiada la mercancía del día y la paga esa tarde, sin interés. Mi hipótesis: el día que llueve no alcanza, y ahí entra el gota a gota.</a:t>
            </a:r>
          </a:p>
          <a:p>
            <a:pPr algn="l"/>
            <a:r>
              <a:rPr sz="1200" b="0">
                <a:solidFill>
                  <a:srgbClr val="111111"/>
                </a:solidFill>
                <a:latin typeface="Arial"/>
                <a:ea typeface="Arial"/>
                <a:cs typeface="Arial"/>
              </a:rPr>
              <a:t>La cláusula: si el IDEAM marca lluvia, se queda hasta con quince mil pesos para la casa, abona el resto y lo que falte lo paga en tercios, en sus tres días de venta siguientes. Sin recargo.</a:t>
            </a:r>
          </a:p>
          <a:p>
            <a:pPr algn="l"/>
            <a:r>
              <a:rPr sz="1200" b="0">
                <a:solidFill>
                  <a:srgbClr val="111111"/>
                </a:solidFill>
                <a:latin typeface="Arial"/>
                <a:ea typeface="Arial"/>
                <a:cs typeface="Arial"/>
              </a:rPr>
              <a:t>Quien fía me paga cuatro mil pesos al mes por vendedor. No presto, no aseguro, y la plata nunca pasa por mí.</a:t>
            </a:r>
          </a:p>
          <a:p>
            <a:pPr algn="l"/>
            <a:r>
              <a:rPr sz="1200" b="0">
                <a:solidFill>
                  <a:srgbClr val="111111"/>
                </a:solidFill>
                <a:latin typeface="Arial"/>
                <a:ea typeface="Arial"/>
                <a:cs typeface="Arial"/>
              </a:rPr>
              <a:t>[Mirar a la cámara en la frase del crédito, que es el mensaje principal. Pausa de un segundo después de "quedar mal". "Mi hipótesis" se dice claro: deja la calidad de la evidencia dicha desde el primer medio minuto. Al decir la cláusula, recorrer con el cursor las tres cajas del flujo. A los 0:45 ya está dicha la regla completa.]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b="0">
                <a:solidFill>
                  <a:srgbClr val="111111"/>
                </a:solidFill>
                <a:latin typeface="Arial"/>
                <a:ea typeface="Arial"/>
                <a:cs typeface="Arial"/>
              </a:rPr>
              <a:t>¿Por qué llegué ahí? El gota a gota no le gana al formal por precio. Con la usura de septiembre, el préstamo diario legal más caro posible cobra unos tres mil cuatrocientos pesos al día por cada cien mil. El gota a gota, cuatro mil. Solo catorce por ciento menos.</a:t>
            </a:r>
          </a:p>
          <a:p>
            <a:pPr algn="l"/>
            <a:r>
              <a:rPr sz="1200" b="0">
                <a:solidFill>
                  <a:srgbClr val="111111"/>
                </a:solidFill>
                <a:latin typeface="Arial"/>
                <a:ea typeface="Arial"/>
                <a:cs typeface="Arial"/>
              </a:rPr>
              <a:t>Le gana por la forma. El ochenta y siete por ciento del crédito formal se paga en cuota mensual. Vende plata a meses a quien le faltan uno o dos días.</a:t>
            </a:r>
          </a:p>
          <a:p>
            <a:pPr algn="l"/>
            <a:r>
              <a:rPr sz="1200" b="0">
                <a:solidFill>
                  <a:srgbClr val="111111"/>
                </a:solidFill>
                <a:latin typeface="Arial"/>
                <a:ea typeface="Arial"/>
                <a:cs typeface="Arial"/>
              </a:rPr>
              <a:t>[Señalar las dos barras casi iguales al decir "solo catorce por ciento menos". Señalar el 87,2% al decir "cuota mensual". Terminar en "uno o dos días" y pasar de diapositiva sin pausa larga.]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b="0">
                <a:solidFill>
                  <a:srgbClr val="111111"/>
                </a:solidFill>
                <a:latin typeface="Arial"/>
                <a:ea typeface="Arial"/>
                <a:cs typeface="Arial"/>
              </a:rPr>
              <a:t>¿Qué evidencia tengo? Tres capas, y empiezo por la más débil.</a:t>
            </a:r>
          </a:p>
          <a:p>
            <a:pPr algn="l"/>
            <a:r>
              <a:rPr sz="1200" b="0">
                <a:solidFill>
                  <a:srgbClr val="111111"/>
                </a:solidFill>
                <a:latin typeface="Arial"/>
                <a:ea typeface="Arial"/>
                <a:cs typeface="Arial"/>
              </a:rPr>
              <a:t>El campo. Yo no entrevisté vendedores en persona. Un colaborador habló en mi nombre con vendedores de carrito en la estación Universidades del MIO, el veintiséis de septiembre. Tengo su resumen oral y no sé cuántos fueron.</a:t>
            </a:r>
          </a:p>
          <a:p>
            <a:pPr algn="l"/>
            <a:r>
              <a:rPr sz="1200" b="0">
                <a:solidFill>
                  <a:srgbClr val="111111"/>
                </a:solidFill>
                <a:latin typeface="Arial"/>
                <a:ea typeface="Arial"/>
                <a:cs typeface="Arial"/>
              </a:rPr>
              <a:t>En sus palabras: "hay días en que, no sé, llovió, entonces nadie va". "Y ahí es cuando entran con un gota a gota".</a:t>
            </a:r>
          </a:p>
          <a:p>
            <a:pPr algn="l"/>
            <a:r>
              <a:rPr sz="1200" b="0">
                <a:solidFill>
                  <a:srgbClr val="111111"/>
                </a:solidFill>
                <a:latin typeface="Arial"/>
                <a:ea typeface="Arial"/>
                <a:cs typeface="Arial"/>
              </a:rPr>
              <a:t>No encontré ese paso publicado en mi búsqueda. Por eso es una hipótesis de trabajo, con umbrales para matarla.</a:t>
            </a:r>
          </a:p>
          <a:p>
            <a:pPr algn="l"/>
            <a:r>
              <a:rPr sz="1200" b="0">
                <a:solidFill>
                  <a:srgbClr val="111111"/>
                </a:solidFill>
                <a:latin typeface="Arial"/>
                <a:ea typeface="Arial"/>
                <a:cs typeface="Arial"/>
              </a:rPr>
              <a:t>[Decir "no entrevisté vendedores en persona" tranquilo y sin disculparse: es un punto fuerte. "En sus palabras" se dice antes de la cita porque en voz alta no se oyen las comillas: son palabras del colaborador, no de un vendedor. Pausa de un segundo después de "entran con un gota a gota", que es la frase que tienen que recordar.]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b="0">
                <a:solidFill>
                  <a:srgbClr val="111111"/>
                </a:solidFill>
                <a:latin typeface="Arial"/>
                <a:ea typeface="Arial"/>
                <a:cs typeface="Arial"/>
              </a:rPr>
              <a:t>Los datos no prueban ese paso. Muestran el contexto. Del DANE: de los ambulantes que pidieron crédito, casi sesenta y dos por ciento fue a un gota a gota.</a:t>
            </a:r>
          </a:p>
          <a:p>
            <a:pPr algn="l"/>
            <a:r>
              <a:rPr sz="1200" b="0">
                <a:solidFill>
                  <a:srgbClr val="111111"/>
                </a:solidFill>
                <a:latin typeface="Arial"/>
                <a:ea typeface="Arial"/>
                <a:cs typeface="Arial"/>
              </a:rPr>
              <a:t>Y la lluvia la medí yo, con datos abiertos del IDEAM. En doce meses, la estación de Univalle marcó cinco milímetros o más en horario de venta en veintiséis de doscientos noventa y cuatro días de venta. Nunca tres seguidos. Si la mercancía no se daña, ese día falta tiempo, no plata.</a:t>
            </a:r>
          </a:p>
          <a:p>
            <a:pPr algn="l"/>
            <a:r>
              <a:rPr sz="1200" b="0">
                <a:solidFill>
                  <a:srgbClr val="111111"/>
                </a:solidFill>
                <a:latin typeface="Arial"/>
                <a:ea typeface="Arial"/>
                <a:cs typeface="Arial"/>
              </a:rPr>
              <a:t>["Los datos no prueban ese paso" se dice tranquilo y firme: sigue la línea de "empiezo por la más débil". Señalar el 61,8%. Luego señalar la tira de días y el "26 de 294". Énfasis en "la medí yo". Pausa antes de "falta tiempo, no plata".]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b="0">
                <a:solidFill>
                  <a:srgbClr val="111111"/>
                </a:solidFill>
                <a:latin typeface="Arial"/>
                <a:ea typeface="Arial"/>
                <a:cs typeface="Arial"/>
              </a:rPr>
              <a:t>Maté dos soluciones reales con números.</a:t>
            </a:r>
          </a:p>
          <a:p>
            <a:pPr algn="l"/>
            <a:r>
              <a:rPr sz="1200" b="0">
                <a:solidFill>
                  <a:srgbClr val="111111"/>
                </a:solidFill>
                <a:latin typeface="Arial"/>
                <a:ea typeface="Arial"/>
                <a:cs typeface="Arial"/>
              </a:rPr>
              <a:t>Un préstamo diario legal, cobrado en la tienda: con montos de ambulante, iba de ganar unos seis mil pesos a perder veintiséis mil por usuario al año.</a:t>
            </a:r>
          </a:p>
          <a:p>
            <a:pPr algn="l"/>
            <a:r>
              <a:rPr sz="1200" b="0">
                <a:solidFill>
                  <a:srgbClr val="111111"/>
                </a:solidFill>
                <a:latin typeface="Arial"/>
                <a:ea typeface="Arial"/>
                <a:cs typeface="Arial"/>
              </a:rPr>
              <a:t>Un seguro del día de lluvia: con veintiséis días al año, la prima se comería el cuarenta y tres por ciento de lo que gana, cada día de venta.</a:t>
            </a:r>
          </a:p>
          <a:p>
            <a:pPr algn="l"/>
            <a:r>
              <a:rPr sz="1200" b="0">
                <a:solidFill>
                  <a:srgbClr val="111111"/>
                </a:solidFill>
                <a:latin typeface="Arial"/>
                <a:ea typeface="Arial"/>
                <a:cs typeface="Arial"/>
              </a:rPr>
              <a:t>Aprendí que lo frecuente se suaviza con plazo y lo raro se asegura. Así que cambié la pregunta: no cómo prestarle más barato, sino cómo evitar que la lluvia rompa un fiado que ya funciona.</a:t>
            </a:r>
          </a:p>
          <a:p>
            <a:pPr algn="l"/>
            <a:r>
              <a:rPr sz="1200" b="0">
                <a:solidFill>
                  <a:srgbClr val="111111"/>
                </a:solidFill>
                <a:latin typeface="Arial"/>
                <a:ea typeface="Arial"/>
                <a:cs typeface="Arial"/>
              </a:rPr>
              <a:t>[Señalar cada fila tachada con su número. "Cada día de venta" se dice claro: es justo lo que mata el seguro. La lección se dice lento. "Cambié la pregunta" es la bisagra de todo el caso: mirar a la cámara.]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b="0">
                <a:solidFill>
                  <a:srgbClr val="111111"/>
                </a:solidFill>
                <a:latin typeface="Arial"/>
                <a:ea typeface="Arial"/>
                <a:cs typeface="Arial"/>
              </a:rPr>
              <a:t>Esa sola pieza resuelve los cuatro puntos del caso. No soy entidad financiera: no hay interés, ni prima, y no capto plata. Sirve sin ahorro: actúa solo el día sin ingreso. Soy un desconocido, pero el trato sigue con el minorista de siempre. Y las soluciones formales que encontré venden plata a treinta días o más. Aquí el plazo sigue en cero y solo lo abre un dato público, nunca el deudor.</a:t>
            </a:r>
          </a:p>
          <a:p>
            <a:pPr algn="l"/>
            <a:r>
              <a:rPr sz="1200" b="0">
                <a:solidFill>
                  <a:srgbClr val="111111"/>
                </a:solidFill>
                <a:latin typeface="Arial"/>
                <a:ea typeface="Arial"/>
                <a:cs typeface="Arial"/>
              </a:rPr>
              <a:t>[Señalar las cuatro esquinas en el orden en que se dicen. Terminar señalando el centro: "un dato público". El verbo "resuelve" se queda aquí; en las preguntas no lo repito.]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b="0">
                <a:solidFill>
                  <a:srgbClr val="111111"/>
                </a:solidFill>
                <a:latin typeface="Arial"/>
                <a:ea typeface="Arial"/>
                <a:cs typeface="Arial"/>
              </a:rPr>
              <a:t>¿Qué impacto tiene? Para el vendedor: en mi prototipo, con tres días de lluvia simulados, el gota a gota termina en tres préstamos, dos para pagar cuotas del anterior. Con la cláusula, nada queda pendiente.</a:t>
            </a:r>
          </a:p>
          <a:p>
            <a:pPr algn="l"/>
            <a:r>
              <a:rPr sz="1200" b="0">
                <a:solidFill>
                  <a:srgbClr val="111111"/>
                </a:solidFill>
                <a:latin typeface="Arial"/>
                <a:ea typeface="Arial"/>
                <a:cs typeface="Arial"/>
              </a:rPr>
              <a:t>Para quien fía, con mis supuestos, mis cuatro mil pesos son el dos coma cinco por ciento del margen que le deja cada vendedor. Se paga sola si le evita perder uno de cada veinte vendedores al año.</a:t>
            </a:r>
          </a:p>
          <a:p>
            <a:pPr algn="l"/>
            <a:r>
              <a:rPr sz="1200" b="0">
                <a:solidFill>
                  <a:srgbClr val="111111"/>
                </a:solidFill>
                <a:latin typeface="Arial"/>
                <a:ea typeface="Arial"/>
                <a:cs typeface="Arial"/>
              </a:rPr>
              <a:t>Para mi empresa: sin salario, cierra en el mes diez. Con salario, en el mes veintidós. Si no cierra, será por volumen y por una tarifa que nadie ha pagado todavía. No por riesgo de crédito, porque no presto.</a:t>
            </a:r>
          </a:p>
          <a:p>
            <a:pPr algn="l"/>
            <a:r>
              <a:rPr sz="1200" b="0">
                <a:solidFill>
                  <a:srgbClr val="111111"/>
                </a:solidFill>
                <a:latin typeface="Arial"/>
                <a:ea typeface="Arial"/>
                <a:cs typeface="Arial"/>
              </a:rPr>
              <a:t>[Una columna por párrafo, de izquierda a derecha. Decir "simulados" y "con mis supuestos" claro, sin apurarse. Señalar "Mes 10" al decirlo. "Si no cierra" se dice sin bajar la voz: es juicio, no excusa.]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b="0">
                <a:solidFill>
                  <a:srgbClr val="111111"/>
                </a:solidFill>
                <a:latin typeface="Arial"/>
                <a:ea typeface="Arial"/>
                <a:cs typeface="Arial"/>
              </a:rPr>
              <a:t>¿Cómo lo llevo a cabo? Antes de firmar con nadie, le pregunto a seis vendedores y a un minorista por la última vez que llovió.</a:t>
            </a:r>
          </a:p>
          <a:p>
            <a:pPr algn="l"/>
            <a:r>
              <a:rPr sz="1200" b="0">
                <a:solidFill>
                  <a:srgbClr val="111111"/>
                </a:solidFill>
                <a:latin typeface="Arial"/>
                <a:ea typeface="Arial"/>
                <a:cs typeface="Arial"/>
              </a:rPr>
              <a:t>Si pasa, un programa lee la estación cada treinta minutos. Llego al minorista con un vendedor que ya le compra, y el primer mes es gratis. El día de lluvia le llega un WhatsApp: "Rige la cláusula". Tres días de fiado normal más un tercio. A fin de mes me paga por Nequi.</a:t>
            </a:r>
          </a:p>
          <a:p>
            <a:pPr algn="l"/>
            <a:r>
              <a:rPr sz="1200" b="0">
                <a:solidFill>
                  <a:srgbClr val="111111"/>
                </a:solidFill>
                <a:latin typeface="Arial"/>
                <a:ea typeface="Arial"/>
                <a:cs typeface="Arial"/>
              </a:rPr>
              <a:t>Y cuento: si con cinco minoristas no llego a cuarenta vendedores con fiado diario, el modelo no cierra.</a:t>
            </a:r>
          </a:p>
          <a:p>
            <a:pPr algn="l"/>
            <a:r>
              <a:rPr sz="1200" b="0">
                <a:solidFill>
                  <a:srgbClr val="111111"/>
                </a:solidFill>
                <a:latin typeface="Arial"/>
                <a:ea typeface="Arial"/>
                <a:cs typeface="Arial"/>
              </a:rPr>
              <a:t>[Señalar el primer punto ("Antes: 6 vendedores") al decir "antes de firmar". Luego recorrer la línea de tiempo paso por paso con el cursor. Ritmo un poco más rápido en los pasos: no son ideas nuevas.]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b="0">
                <a:solidFill>
                  <a:srgbClr val="111111"/>
                </a:solidFill>
                <a:latin typeface="Arial"/>
                <a:ea typeface="Arial"/>
                <a:cs typeface="Arial"/>
              </a:rPr>
              <a:t>El riesgo real tiene dos caras. Una: que el minorista ya espere cuando llueve. Si tres o más de seis vendedores lo dicen, la cláusula no sirve, y lo digo.</a:t>
            </a:r>
          </a:p>
          <a:p>
            <a:pPr algn="l"/>
            <a:r>
              <a:rPr sz="1200" b="0">
                <a:solidFill>
                  <a:srgbClr val="111111"/>
                </a:solidFill>
                <a:latin typeface="Arial"/>
                <a:ea typeface="Arial"/>
                <a:cs typeface="Arial"/>
              </a:rPr>
              <a:t>Otra: la lluvia le cae a todos sus vendedores el mismo día. Con doce, le quedan unos quinientos sesenta mil pesos sin cobrar. Si no los tiene, el plazo sube al mayorista, y eso no lo he probado.</a:t>
            </a:r>
          </a:p>
          <a:p>
            <a:pPr algn="l"/>
            <a:r>
              <a:rPr sz="1200" b="0">
                <a:solidFill>
                  <a:srgbClr val="111111"/>
                </a:solidFill>
                <a:latin typeface="Arial"/>
                <a:ea typeface="Arial"/>
                <a:cs typeface="Arial"/>
              </a:rPr>
              <a:t>[Señalar el "3 de 6" grande en la primera cara y la línea de la caja en la segunda. Tono firme, no defensivo. "Eso no lo he probado" se dice tranquilo y sin disculparse, igual que "no entrevisté vendedores en persona".]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b="0">
                <a:solidFill>
                  <a:srgbClr val="111111"/>
                </a:solidFill>
                <a:latin typeface="Arial"/>
                <a:ea typeface="Arial"/>
                <a:cs typeface="Arial"/>
              </a:rPr>
              <a:t>No le vendo plata a quien le faltan dos días. Le corro la fecha a un crédito que ya funciona. Al vendedor no le falta crédito. Le falta que un día de lluvia no cuente como quedar mal. Gracias.</a:t>
            </a:r>
          </a:p>
          <a:p>
            <a:pPr algn="l"/>
            <a:r>
              <a:rPr sz="1200" b="0">
                <a:solidFill>
                  <a:srgbClr val="111111"/>
                </a:solidFill>
                <a:latin typeface="Arial"/>
                <a:ea typeface="Arial"/>
                <a:cs typeface="Arial"/>
              </a:rPr>
              <a:t>[Pausa de un segundo antes de "Al vendedor". Decir la última frase mirando a la cámara, lento. Después de "Gracias", silencio: no agregar "¿preguntas?", que las abren ellos.]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685800"/>
            <a:ext cx="11048695" cy="1188720"/>
          </a:xfrm>
          <a:prstGeom prst="rect">
            <a:avLst/>
          </a:prstGeom>
          <a:noFill/>
        </p:spPr>
        <p:txBody>
          <a:bodyPr wrap="square" lIns="45720" rIns="45720" tIns="18288" bIns="18288" anchor="t"/>
          <a:lstStyle/>
          <a:p>
            <a:pPr algn="l"/>
            <a:r>
              <a:rPr sz="3200" b="1">
                <a:solidFill>
                  <a:srgbClr val="111111"/>
                </a:solidFill>
                <a:latin typeface="Arial"/>
                <a:ea typeface="Arial"/>
                <a:cs typeface="Arial"/>
              </a:rPr>
              <a:t>Al vendedor no le falta crédito. Le falta que un día de lluvia no cuente como quedar mal.</a:t>
            </a:r>
          </a:p>
        </p:txBody>
      </p:sp>
      <p:sp>
        <p:nvSpPr>
          <p:cNvPr id="3" name="TextBox 2"/>
          <p:cNvSpPr txBox="1"/>
          <p:nvPr/>
        </p:nvSpPr>
        <p:spPr>
          <a:xfrm>
            <a:off x="10705795" y="6263640"/>
            <a:ext cx="914400" cy="274320"/>
          </a:xfrm>
          <a:prstGeom prst="rect">
            <a:avLst/>
          </a:prstGeom>
          <a:noFill/>
        </p:spPr>
        <p:txBody>
          <a:bodyPr wrap="square" lIns="45720" rIns="45720" tIns="18288" bIns="18288" anchor="b"/>
          <a:lstStyle/>
          <a:p>
            <a:pPr algn="r"/>
            <a:r>
              <a:rPr sz="1200" b="0">
                <a:solidFill>
                  <a:srgbClr val="111111"/>
                </a:solidFill>
                <a:latin typeface="Arial"/>
                <a:ea typeface="Arial"/>
                <a:cs typeface="Arial"/>
              </a:rPr>
              <a:t>1</a:t>
            </a:r>
          </a:p>
        </p:txBody>
      </p:sp>
      <p:sp>
        <p:nvSpPr>
          <p:cNvPr id="4" name="TextBox 3"/>
          <p:cNvSpPr txBox="1"/>
          <p:nvPr/>
        </p:nvSpPr>
        <p:spPr>
          <a:xfrm>
            <a:off x="571500" y="320040"/>
            <a:ext cx="11048695" cy="274320"/>
          </a:xfrm>
          <a:prstGeom prst="rect">
            <a:avLst/>
          </a:prstGeom>
          <a:noFill/>
        </p:spPr>
        <p:txBody>
          <a:bodyPr wrap="square" lIns="45720" rIns="45720" tIns="18288" bIns="18288" anchor="t"/>
          <a:lstStyle/>
          <a:p>
            <a:pPr algn="l"/>
            <a:r>
              <a:rPr sz="1200" b="0">
                <a:solidFill>
                  <a:srgbClr val="111111"/>
                </a:solidFill>
                <a:latin typeface="Arial"/>
                <a:ea typeface="Arial"/>
                <a:cs typeface="Arial"/>
              </a:rPr>
              <a:t>Cláusula de lluvia del fiado · Santiago Espinosa · Cali · Hipótesis: el gota a gota entra el día que llueve</a:t>
            </a:r>
          </a:p>
        </p:txBody>
      </p:sp>
      <p:sp>
        <p:nvSpPr>
          <p:cNvPr id="5" name="Rectangle 4"/>
          <p:cNvSpPr/>
          <p:nvPr/>
        </p:nvSpPr>
        <p:spPr>
          <a:xfrm>
            <a:off x="571500" y="2331720"/>
            <a:ext cx="3108960" cy="2011680"/>
          </a:xfrm>
          <a:prstGeom prst="rect">
            <a:avLst/>
          </a:prstGeom>
          <a:noFill/>
          <a:ln w="254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41367" y="2331720"/>
            <a:ext cx="3108960" cy="2011680"/>
          </a:xfrm>
          <a:prstGeom prst="rect">
            <a:avLst/>
          </a:prstGeom>
          <a:noFill/>
          <a:ln w="254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11235" y="2331720"/>
            <a:ext cx="3108960" cy="2011680"/>
          </a:xfrm>
          <a:prstGeom prst="rect">
            <a:avLst/>
          </a:prstGeom>
          <a:noFill/>
          <a:ln w="254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1500" y="2331720"/>
            <a:ext cx="3108960" cy="2011680"/>
          </a:xfrm>
          <a:prstGeom prst="rect">
            <a:avLst/>
          </a:prstGeom>
          <a:noFill/>
        </p:spPr>
        <p:txBody>
          <a:bodyPr wrap="square" lIns="45720" rIns="45720" tIns="18288" bIns="18288" anchor="ctr"/>
          <a:lstStyle/>
          <a:p>
            <a:pPr algn="ctr"/>
            <a:r>
              <a:rPr sz="2800" b="0">
                <a:solidFill>
                  <a:srgbClr val="111111"/>
                </a:solidFill>
                <a:latin typeface="Arial"/>
                <a:ea typeface="Arial"/>
                <a:cs typeface="Arial"/>
              </a:rPr>
              <a:t>Lluvia ≥</a:t>
            </a:r>
          </a:p>
          <a:p>
            <a:pPr algn="ctr"/>
            <a:r>
              <a:rPr sz="7200" b="1">
                <a:solidFill>
                  <a:srgbClr val="1558B0"/>
                </a:solidFill>
                <a:latin typeface="Arial"/>
                <a:ea typeface="Arial"/>
                <a:cs typeface="Arial"/>
              </a:rPr>
              <a:t>5 mm</a:t>
            </a:r>
          </a:p>
        </p:txBody>
      </p:sp>
      <p:sp>
        <p:nvSpPr>
          <p:cNvPr id="9" name="TextBox 8"/>
          <p:cNvSpPr txBox="1"/>
          <p:nvPr/>
        </p:nvSpPr>
        <p:spPr>
          <a:xfrm>
            <a:off x="4678527" y="2331720"/>
            <a:ext cx="2834640" cy="2011680"/>
          </a:xfrm>
          <a:prstGeom prst="rect">
            <a:avLst/>
          </a:prstGeom>
          <a:noFill/>
        </p:spPr>
        <p:txBody>
          <a:bodyPr wrap="square" lIns="45720" rIns="45720" tIns="18288" bIns="18288" anchor="ctr"/>
          <a:lstStyle/>
          <a:p>
            <a:pPr algn="ctr"/>
            <a:r>
              <a:rPr sz="2800" b="0">
                <a:solidFill>
                  <a:srgbClr val="111111"/>
                </a:solidFill>
                <a:latin typeface="Arial"/>
                <a:ea typeface="Arial"/>
                <a:cs typeface="Arial"/>
              </a:rPr>
              <a:t>Guarda hasta $15.000</a:t>
            </a:r>
          </a:p>
        </p:txBody>
      </p:sp>
      <p:sp>
        <p:nvSpPr>
          <p:cNvPr id="10" name="TextBox 9"/>
          <p:cNvSpPr txBox="1"/>
          <p:nvPr/>
        </p:nvSpPr>
        <p:spPr>
          <a:xfrm>
            <a:off x="8648395" y="2331720"/>
            <a:ext cx="2834640" cy="2011680"/>
          </a:xfrm>
          <a:prstGeom prst="rect">
            <a:avLst/>
          </a:prstGeom>
          <a:noFill/>
        </p:spPr>
        <p:txBody>
          <a:bodyPr wrap="square" lIns="45720" rIns="45720" tIns="18288" bIns="18288" anchor="ctr"/>
          <a:lstStyle/>
          <a:p>
            <a:pPr algn="ctr"/>
            <a:r>
              <a:rPr sz="2800" b="0">
                <a:solidFill>
                  <a:srgbClr val="111111"/>
                </a:solidFill>
                <a:latin typeface="Arial"/>
                <a:ea typeface="Arial"/>
                <a:cs typeface="Arial"/>
              </a:rPr>
              <a:t>Tercios, 3 días, sin recargo</a:t>
            </a:r>
          </a:p>
        </p:txBody>
      </p:sp>
      <p:sp>
        <p:nvSpPr>
          <p:cNvPr id="11" name="Right Arrow 10"/>
          <p:cNvSpPr/>
          <p:nvPr/>
        </p:nvSpPr>
        <p:spPr>
          <a:xfrm>
            <a:off x="3836593" y="3154679"/>
            <a:ext cx="548640" cy="365760"/>
          </a:xfrm>
          <a:prstGeom prst="rightArrow">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7806461" y="3154679"/>
            <a:ext cx="548640" cy="365760"/>
          </a:xfrm>
          <a:prstGeom prst="rightArrow">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1500" y="4846320"/>
            <a:ext cx="11048695" cy="640080"/>
          </a:xfrm>
          <a:prstGeom prst="rect">
            <a:avLst/>
          </a:prstGeom>
          <a:noFill/>
        </p:spPr>
        <p:txBody>
          <a:bodyPr wrap="square" lIns="45720" rIns="45720" tIns="18288" bIns="18288" anchor="t"/>
          <a:lstStyle/>
          <a:p>
            <a:pPr algn="ctr"/>
            <a:r>
              <a:rPr sz="2800" b="1">
                <a:solidFill>
                  <a:srgbClr val="111111"/>
                </a:solidFill>
                <a:latin typeface="Arial"/>
                <a:ea typeface="Arial"/>
                <a:cs typeface="Arial"/>
              </a:rPr>
              <a:t>No presto. No aseguro.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502920"/>
            <a:ext cx="11048695" cy="1188720"/>
          </a:xfrm>
          <a:prstGeom prst="rect">
            <a:avLst/>
          </a:prstGeom>
          <a:noFill/>
        </p:spPr>
        <p:txBody>
          <a:bodyPr wrap="square" lIns="45720" rIns="45720" tIns="18288" bIns="18288" anchor="t"/>
          <a:lstStyle/>
          <a:p>
            <a:pPr algn="l"/>
            <a:r>
              <a:rPr sz="3600" b="1">
                <a:solidFill>
                  <a:srgbClr val="111111"/>
                </a:solidFill>
                <a:latin typeface="Arial"/>
                <a:ea typeface="Arial"/>
                <a:cs typeface="Arial"/>
              </a:rPr>
              <a:t>El formal no pierde por precio: pierde por la forma</a:t>
            </a:r>
          </a:p>
        </p:txBody>
      </p:sp>
      <p:sp>
        <p:nvSpPr>
          <p:cNvPr id="3" name="TextBox 2"/>
          <p:cNvSpPr txBox="1"/>
          <p:nvPr/>
        </p:nvSpPr>
        <p:spPr>
          <a:xfrm>
            <a:off x="571500" y="5989320"/>
            <a:ext cx="9951415" cy="548640"/>
          </a:xfrm>
          <a:prstGeom prst="rect">
            <a:avLst/>
          </a:prstGeom>
          <a:noFill/>
        </p:spPr>
        <p:txBody>
          <a:bodyPr wrap="square" lIns="45720" rIns="45720" tIns="18288" bIns="18288" anchor="b"/>
          <a:lstStyle/>
          <a:p>
            <a:pPr algn="l"/>
            <a:r>
              <a:rPr sz="1200" b="0">
                <a:solidFill>
                  <a:srgbClr val="111111"/>
                </a:solidFill>
                <a:latin typeface="Arial"/>
                <a:ea typeface="Arial"/>
                <a:cs typeface="Arial"/>
              </a:rPr>
              <a:t>Usura sep. 2026, cálculo propio (R7) · Encuesta de Demanda de Inclusión Financiera 2022, p. 58 (R8)</a:t>
            </a:r>
          </a:p>
        </p:txBody>
      </p:sp>
      <p:sp>
        <p:nvSpPr>
          <p:cNvPr id="4" name="TextBox 3"/>
          <p:cNvSpPr txBox="1"/>
          <p:nvPr/>
        </p:nvSpPr>
        <p:spPr>
          <a:xfrm>
            <a:off x="10705795" y="6263640"/>
            <a:ext cx="914400" cy="274320"/>
          </a:xfrm>
          <a:prstGeom prst="rect">
            <a:avLst/>
          </a:prstGeom>
          <a:noFill/>
        </p:spPr>
        <p:txBody>
          <a:bodyPr wrap="square" lIns="45720" rIns="45720" tIns="18288" bIns="18288" anchor="b"/>
          <a:lstStyle/>
          <a:p>
            <a:pPr algn="r"/>
            <a:r>
              <a:rPr sz="1200" b="0">
                <a:solidFill>
                  <a:srgbClr val="111111"/>
                </a:solidFill>
                <a:latin typeface="Arial"/>
                <a:ea typeface="Arial"/>
                <a:cs typeface="Arial"/>
              </a:rPr>
              <a:t>2</a:t>
            </a:r>
          </a:p>
        </p:txBody>
      </p:sp>
      <p:sp>
        <p:nvSpPr>
          <p:cNvPr id="5" name="TextBox 4"/>
          <p:cNvSpPr txBox="1"/>
          <p:nvPr/>
        </p:nvSpPr>
        <p:spPr>
          <a:xfrm>
            <a:off x="571500" y="1691640"/>
            <a:ext cx="11048695" cy="457200"/>
          </a:xfrm>
          <a:prstGeom prst="rect">
            <a:avLst/>
          </a:prstGeom>
          <a:noFill/>
        </p:spPr>
        <p:txBody>
          <a:bodyPr wrap="square" lIns="45720" rIns="45720" tIns="18288" bIns="18288" anchor="t"/>
          <a:lstStyle/>
          <a:p>
            <a:pPr algn="l"/>
            <a:r>
              <a:rPr sz="2600" b="0">
                <a:solidFill>
                  <a:srgbClr val="111111"/>
                </a:solidFill>
                <a:latin typeface="Arial"/>
                <a:ea typeface="Arial"/>
                <a:cs typeface="Arial"/>
              </a:rPr>
              <a:t>Legal: $3.436</a:t>
            </a:r>
          </a:p>
        </p:txBody>
      </p:sp>
      <p:sp>
        <p:nvSpPr>
          <p:cNvPr id="6" name="Rectangle 5"/>
          <p:cNvSpPr/>
          <p:nvPr/>
        </p:nvSpPr>
        <p:spPr>
          <a:xfrm>
            <a:off x="571500" y="2194560"/>
            <a:ext cx="9490829" cy="50292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1500" y="2834640"/>
            <a:ext cx="11048695" cy="457200"/>
          </a:xfrm>
          <a:prstGeom prst="rect">
            <a:avLst/>
          </a:prstGeom>
          <a:noFill/>
        </p:spPr>
        <p:txBody>
          <a:bodyPr wrap="square" lIns="45720" rIns="45720" tIns="18288" bIns="18288" anchor="t"/>
          <a:lstStyle/>
          <a:p>
            <a:pPr algn="l"/>
            <a:r>
              <a:rPr sz="2600" b="0">
                <a:solidFill>
                  <a:srgbClr val="111111"/>
                </a:solidFill>
                <a:latin typeface="Arial"/>
                <a:ea typeface="Arial"/>
                <a:cs typeface="Arial"/>
              </a:rPr>
              <a:t>Gota a gota: $4.000</a:t>
            </a:r>
          </a:p>
        </p:txBody>
      </p:sp>
      <p:sp>
        <p:nvSpPr>
          <p:cNvPr id="8" name="Rectangle 7"/>
          <p:cNvSpPr/>
          <p:nvPr/>
        </p:nvSpPr>
        <p:spPr>
          <a:xfrm>
            <a:off x="571500" y="3337560"/>
            <a:ext cx="11048695" cy="502920"/>
          </a:xfrm>
          <a:prstGeom prst="rect">
            <a:avLst/>
          </a:prstGeom>
          <a:solidFill>
            <a:srgbClr val="155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1500" y="3931920"/>
            <a:ext cx="11048695" cy="457200"/>
          </a:xfrm>
          <a:prstGeom prst="rect">
            <a:avLst/>
          </a:prstGeom>
          <a:noFill/>
        </p:spPr>
        <p:txBody>
          <a:bodyPr wrap="square" lIns="45720" rIns="45720" tIns="18288" bIns="18288" anchor="t"/>
          <a:lstStyle/>
          <a:p>
            <a:pPr algn="l"/>
            <a:r>
              <a:rPr sz="2400" b="0">
                <a:solidFill>
                  <a:srgbClr val="111111"/>
                </a:solidFill>
                <a:latin typeface="Arial"/>
                <a:ea typeface="Arial"/>
                <a:cs typeface="Arial"/>
              </a:rPr>
              <a:t>diarios por $100.000</a:t>
            </a:r>
          </a:p>
        </p:txBody>
      </p:sp>
      <p:sp>
        <p:nvSpPr>
          <p:cNvPr id="10" name="TextBox 9"/>
          <p:cNvSpPr txBox="1"/>
          <p:nvPr/>
        </p:nvSpPr>
        <p:spPr>
          <a:xfrm>
            <a:off x="571500" y="4754880"/>
            <a:ext cx="11048695" cy="731520"/>
          </a:xfrm>
          <a:prstGeom prst="rect">
            <a:avLst/>
          </a:prstGeom>
          <a:noFill/>
        </p:spPr>
        <p:txBody>
          <a:bodyPr wrap="square" lIns="45720" rIns="45720" tIns="18288" bIns="18288" anchor="b"/>
          <a:lstStyle/>
          <a:p>
            <a:pPr algn="l"/>
            <a:r>
              <a:rPr sz="4000" b="1">
                <a:solidFill>
                  <a:srgbClr val="111111"/>
                </a:solidFill>
                <a:latin typeface="Arial"/>
                <a:ea typeface="Arial"/>
                <a:cs typeface="Arial"/>
              </a:rPr>
              <a:t>87,2%</a:t>
            </a:r>
            <a:r>
              <a:rPr sz="2800" b="0">
                <a:solidFill>
                  <a:srgbClr val="111111"/>
                </a:solidFill>
                <a:latin typeface="Arial"/>
                <a:ea typeface="Arial"/>
                <a:cs typeface="Arial"/>
              </a:rPr>
              <a:t> del formal: cuota mensual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502920"/>
            <a:ext cx="11048695" cy="1188720"/>
          </a:xfrm>
          <a:prstGeom prst="rect">
            <a:avLst/>
          </a:prstGeom>
          <a:noFill/>
        </p:spPr>
        <p:txBody>
          <a:bodyPr wrap="square" lIns="45720" rIns="45720" tIns="18288" bIns="18288" anchor="t"/>
          <a:lstStyle/>
          <a:p>
            <a:pPr algn="l"/>
            <a:r>
              <a:rPr sz="3600" b="1">
                <a:solidFill>
                  <a:srgbClr val="111111"/>
                </a:solidFill>
                <a:latin typeface="Arial"/>
                <a:ea typeface="Arial"/>
                <a:cs typeface="Arial"/>
              </a:rPr>
              <a:t>Mi hipótesis: el gota a gota entra la tarde en que llueve</a:t>
            </a:r>
          </a:p>
        </p:txBody>
      </p:sp>
      <p:sp>
        <p:nvSpPr>
          <p:cNvPr id="3" name="TextBox 2"/>
          <p:cNvSpPr txBox="1"/>
          <p:nvPr/>
        </p:nvSpPr>
        <p:spPr>
          <a:xfrm>
            <a:off x="571500" y="5989320"/>
            <a:ext cx="9951415" cy="548640"/>
          </a:xfrm>
          <a:prstGeom prst="rect">
            <a:avLst/>
          </a:prstGeom>
          <a:noFill/>
        </p:spPr>
        <p:txBody>
          <a:bodyPr wrap="square" lIns="45720" rIns="45720" tIns="18288" bIns="18288" anchor="b"/>
          <a:lstStyle/>
          <a:p>
            <a:pPr algn="l"/>
            <a:r>
              <a:rPr sz="1200" b="0">
                <a:solidFill>
                  <a:srgbClr val="111111"/>
                </a:solidFill>
                <a:latin typeface="Arial"/>
                <a:ea typeface="Arial"/>
                <a:cs typeface="Arial"/>
              </a:rPr>
              <a:t>Resumen oral de un colaborador que habló en mi nombre, estación Universidades del MIO, 26 sep 2026. Número de vendedores: desconocido. Anexo C.</a:t>
            </a:r>
          </a:p>
        </p:txBody>
      </p:sp>
      <p:sp>
        <p:nvSpPr>
          <p:cNvPr id="4" name="TextBox 3"/>
          <p:cNvSpPr txBox="1"/>
          <p:nvPr/>
        </p:nvSpPr>
        <p:spPr>
          <a:xfrm>
            <a:off x="10705795" y="6263640"/>
            <a:ext cx="914400" cy="274320"/>
          </a:xfrm>
          <a:prstGeom prst="rect">
            <a:avLst/>
          </a:prstGeom>
          <a:noFill/>
        </p:spPr>
        <p:txBody>
          <a:bodyPr wrap="square" lIns="45720" rIns="45720" tIns="18288" bIns="18288" anchor="b"/>
          <a:lstStyle/>
          <a:p>
            <a:pPr algn="r"/>
            <a:r>
              <a:rPr sz="1200" b="0">
                <a:solidFill>
                  <a:srgbClr val="111111"/>
                </a:solidFill>
                <a:latin typeface="Arial"/>
                <a:ea typeface="Arial"/>
                <a:cs typeface="Arial"/>
              </a:rPr>
              <a:t>3</a:t>
            </a:r>
          </a:p>
        </p:txBody>
      </p:sp>
      <p:sp>
        <p:nvSpPr>
          <p:cNvPr id="5" name="TextBox 4"/>
          <p:cNvSpPr txBox="1"/>
          <p:nvPr/>
        </p:nvSpPr>
        <p:spPr>
          <a:xfrm>
            <a:off x="571500" y="1828800"/>
            <a:ext cx="11048695" cy="457200"/>
          </a:xfrm>
          <a:prstGeom prst="rect">
            <a:avLst/>
          </a:prstGeom>
          <a:noFill/>
        </p:spPr>
        <p:txBody>
          <a:bodyPr wrap="square" lIns="45720" rIns="45720" tIns="18288" bIns="18288" anchor="t"/>
          <a:lstStyle/>
          <a:p>
            <a:pPr algn="l"/>
            <a:r>
              <a:rPr sz="2400" b="0">
                <a:solidFill>
                  <a:srgbClr val="111111"/>
                </a:solidFill>
                <a:latin typeface="Arial"/>
                <a:ea typeface="Arial"/>
                <a:cs typeface="Arial"/>
              </a:rPr>
              <a:t>Colaborador:</a:t>
            </a:r>
          </a:p>
        </p:txBody>
      </p:sp>
      <p:sp>
        <p:nvSpPr>
          <p:cNvPr id="6" name="TextBox 5"/>
          <p:cNvSpPr txBox="1"/>
          <p:nvPr/>
        </p:nvSpPr>
        <p:spPr>
          <a:xfrm>
            <a:off x="571500" y="2468880"/>
            <a:ext cx="11048695" cy="1828800"/>
          </a:xfrm>
          <a:prstGeom prst="rect">
            <a:avLst/>
          </a:prstGeom>
          <a:noFill/>
        </p:spPr>
        <p:txBody>
          <a:bodyPr wrap="square" lIns="45720" rIns="45720" tIns="18288" bIns="18288" anchor="t"/>
          <a:lstStyle/>
          <a:p>
            <a:pPr algn="l"/>
            <a:r>
              <a:rPr sz="3600" b="0">
                <a:solidFill>
                  <a:srgbClr val="111111"/>
                </a:solidFill>
                <a:latin typeface="Arial"/>
                <a:ea typeface="Arial"/>
                <a:cs typeface="Arial"/>
              </a:rPr>
              <a:t>“…</a:t>
            </a:r>
            <a:r>
              <a:rPr sz="3600" b="1">
                <a:solidFill>
                  <a:srgbClr val="1558B0"/>
                </a:solidFill>
                <a:latin typeface="Arial"/>
                <a:ea typeface="Arial"/>
                <a:cs typeface="Arial"/>
              </a:rPr>
              <a:t>llovió</a:t>
            </a:r>
            <a:r>
              <a:rPr sz="3600" b="0">
                <a:solidFill>
                  <a:srgbClr val="111111"/>
                </a:solidFill>
                <a:latin typeface="Arial"/>
                <a:ea typeface="Arial"/>
                <a:cs typeface="Arial"/>
              </a:rPr>
              <a:t>, entonces nadie va…”</a:t>
            </a:r>
          </a:p>
          <a:p>
            <a:pPr algn="l"/>
            <a:r>
              <a:rPr sz="3600" b="0">
                <a:solidFill>
                  <a:srgbClr val="111111"/>
                </a:solidFill>
                <a:latin typeface="Arial"/>
                <a:ea typeface="Arial"/>
                <a:cs typeface="Arial"/>
              </a:rPr>
              <a:t>“Y ahí es cuando entran con un gota a gota.”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502920"/>
            <a:ext cx="11048695" cy="1188720"/>
          </a:xfrm>
          <a:prstGeom prst="rect">
            <a:avLst/>
          </a:prstGeom>
          <a:noFill/>
        </p:spPr>
        <p:txBody>
          <a:bodyPr wrap="square" lIns="45720" rIns="45720" tIns="18288" bIns="18288" anchor="t"/>
          <a:lstStyle/>
          <a:p>
            <a:pPr algn="l"/>
            <a:r>
              <a:rPr sz="3200" b="1">
                <a:solidFill>
                  <a:srgbClr val="111111"/>
                </a:solidFill>
                <a:latin typeface="Arial"/>
                <a:ea typeface="Arial"/>
                <a:cs typeface="Arial"/>
              </a:rPr>
              <a:t>El ambulante va al gota a gota, y la lluvia es frecuente y corta</a:t>
            </a:r>
          </a:p>
        </p:txBody>
      </p:sp>
      <p:sp>
        <p:nvSpPr>
          <p:cNvPr id="3" name="TextBox 2"/>
          <p:cNvSpPr txBox="1"/>
          <p:nvPr/>
        </p:nvSpPr>
        <p:spPr>
          <a:xfrm>
            <a:off x="571500" y="5989320"/>
            <a:ext cx="9951415" cy="548640"/>
          </a:xfrm>
          <a:prstGeom prst="rect">
            <a:avLst/>
          </a:prstGeom>
          <a:noFill/>
        </p:spPr>
        <p:txBody>
          <a:bodyPr wrap="square" lIns="45720" rIns="45720" tIns="18288" bIns="18288" anchor="b"/>
          <a:lstStyle/>
          <a:p>
            <a:pPr algn="l"/>
            <a:r>
              <a:rPr sz="1200" b="0">
                <a:solidFill>
                  <a:srgbClr val="111111"/>
                </a:solidFill>
                <a:latin typeface="Arial"/>
                <a:ea typeface="Arial"/>
                <a:cs typeface="Arial"/>
              </a:rPr>
              <a:t>DANE, EMICRON Vendedores ambulantes 2025, C. 18.1 (R2) · IDEAM Univalle, 27 sep 2025 a 26 sep 2026, ≥ 5 mm de 7 a. m. a 7 p. m., cálculo propio (R14)</a:t>
            </a:r>
          </a:p>
        </p:txBody>
      </p:sp>
      <p:sp>
        <p:nvSpPr>
          <p:cNvPr id="4" name="TextBox 3"/>
          <p:cNvSpPr txBox="1"/>
          <p:nvPr/>
        </p:nvSpPr>
        <p:spPr>
          <a:xfrm>
            <a:off x="10705795" y="6263640"/>
            <a:ext cx="914400" cy="274320"/>
          </a:xfrm>
          <a:prstGeom prst="rect">
            <a:avLst/>
          </a:prstGeom>
          <a:noFill/>
        </p:spPr>
        <p:txBody>
          <a:bodyPr wrap="square" lIns="45720" rIns="45720" tIns="18288" bIns="18288" anchor="b"/>
          <a:lstStyle/>
          <a:p>
            <a:pPr algn="r"/>
            <a:r>
              <a:rPr sz="1200" b="0">
                <a:solidFill>
                  <a:srgbClr val="111111"/>
                </a:solidFill>
                <a:latin typeface="Arial"/>
                <a:ea typeface="Arial"/>
                <a:cs typeface="Arial"/>
              </a:rPr>
              <a:t>4</a:t>
            </a:r>
          </a:p>
        </p:txBody>
      </p:sp>
      <p:sp>
        <p:nvSpPr>
          <p:cNvPr id="5" name="TextBox 4"/>
          <p:cNvSpPr txBox="1"/>
          <p:nvPr/>
        </p:nvSpPr>
        <p:spPr>
          <a:xfrm>
            <a:off x="571500" y="2103120"/>
            <a:ext cx="4572000" cy="1463040"/>
          </a:xfrm>
          <a:prstGeom prst="rect">
            <a:avLst/>
          </a:prstGeom>
          <a:noFill/>
        </p:spPr>
        <p:txBody>
          <a:bodyPr wrap="square" lIns="45720" rIns="45720" tIns="18288" bIns="18288" anchor="b"/>
          <a:lstStyle/>
          <a:p>
            <a:pPr algn="l"/>
            <a:r>
              <a:rPr sz="9600" b="1">
                <a:solidFill>
                  <a:srgbClr val="1558B0"/>
                </a:solidFill>
                <a:latin typeface="Arial"/>
                <a:ea typeface="Arial"/>
                <a:cs typeface="Arial"/>
              </a:rPr>
              <a:t>61,8%</a:t>
            </a:r>
          </a:p>
        </p:txBody>
      </p:sp>
      <p:sp>
        <p:nvSpPr>
          <p:cNvPr id="6" name="TextBox 5"/>
          <p:cNvSpPr txBox="1"/>
          <p:nvPr/>
        </p:nvSpPr>
        <p:spPr>
          <a:xfrm>
            <a:off x="571500" y="3657600"/>
            <a:ext cx="4297680" cy="1097280"/>
          </a:xfrm>
          <a:prstGeom prst="rect">
            <a:avLst/>
          </a:prstGeom>
          <a:noFill/>
        </p:spPr>
        <p:txBody>
          <a:bodyPr wrap="square" lIns="45720" rIns="45720" tIns="18288" bIns="18288" anchor="t"/>
          <a:lstStyle/>
          <a:p>
            <a:pPr algn="l"/>
            <a:r>
              <a:rPr sz="2600" b="0">
                <a:solidFill>
                  <a:srgbClr val="111111"/>
                </a:solidFill>
                <a:latin typeface="Arial"/>
                <a:ea typeface="Arial"/>
                <a:cs typeface="Arial"/>
              </a:rPr>
              <a:t>ambulantes con crédito: gota a gota</a:t>
            </a:r>
          </a:p>
        </p:txBody>
      </p:sp>
      <p:sp>
        <p:nvSpPr>
          <p:cNvPr id="7" name="TextBox 6"/>
          <p:cNvSpPr txBox="1"/>
          <p:nvPr/>
        </p:nvSpPr>
        <p:spPr>
          <a:xfrm>
            <a:off x="5143500" y="2103120"/>
            <a:ext cx="6476695" cy="1463040"/>
          </a:xfrm>
          <a:prstGeom prst="rect">
            <a:avLst/>
          </a:prstGeom>
          <a:noFill/>
        </p:spPr>
        <p:txBody>
          <a:bodyPr wrap="square" lIns="45720" rIns="45720" tIns="18288" bIns="18288" anchor="b"/>
          <a:lstStyle/>
          <a:p>
            <a:pPr algn="l"/>
            <a:r>
              <a:rPr sz="9600" b="1">
                <a:solidFill>
                  <a:srgbClr val="1558B0"/>
                </a:solidFill>
                <a:latin typeface="Arial"/>
                <a:ea typeface="Arial"/>
                <a:cs typeface="Arial"/>
              </a:rPr>
              <a:t>26 de 294</a:t>
            </a:r>
          </a:p>
        </p:txBody>
      </p:sp>
      <p:sp>
        <p:nvSpPr>
          <p:cNvPr id="8" name="TextBox 7"/>
          <p:cNvSpPr txBox="1"/>
          <p:nvPr/>
        </p:nvSpPr>
        <p:spPr>
          <a:xfrm>
            <a:off x="5143500" y="3657600"/>
            <a:ext cx="6476695" cy="1097280"/>
          </a:xfrm>
          <a:prstGeom prst="rect">
            <a:avLst/>
          </a:prstGeom>
          <a:noFill/>
        </p:spPr>
        <p:txBody>
          <a:bodyPr wrap="square" lIns="45720" rIns="45720" tIns="18288" bIns="18288" anchor="t"/>
          <a:lstStyle/>
          <a:p>
            <a:pPr algn="l"/>
            <a:r>
              <a:rPr sz="2600" b="0">
                <a:solidFill>
                  <a:srgbClr val="111111"/>
                </a:solidFill>
                <a:latin typeface="Arial"/>
                <a:ea typeface="Arial"/>
                <a:cs typeface="Arial"/>
              </a:rPr>
              <a:t>días de venta con lluvia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502920"/>
            <a:ext cx="11048695" cy="1188720"/>
          </a:xfrm>
          <a:prstGeom prst="rect">
            <a:avLst/>
          </a:prstGeom>
          <a:noFill/>
        </p:spPr>
        <p:txBody>
          <a:bodyPr wrap="square" lIns="45720" rIns="45720" tIns="18288" bIns="18288" anchor="t"/>
          <a:lstStyle/>
          <a:p>
            <a:pPr algn="l"/>
            <a:r>
              <a:rPr sz="3600" b="1">
                <a:solidFill>
                  <a:srgbClr val="111111"/>
                </a:solidFill>
                <a:latin typeface="Arial"/>
                <a:ea typeface="Arial"/>
                <a:cs typeface="Arial"/>
              </a:rPr>
              <a:t>Lo frecuente se suaviza con plazo; lo raro se asegura</a:t>
            </a:r>
          </a:p>
        </p:txBody>
      </p:sp>
      <p:sp>
        <p:nvSpPr>
          <p:cNvPr id="3" name="TextBox 2"/>
          <p:cNvSpPr txBox="1"/>
          <p:nvPr/>
        </p:nvSpPr>
        <p:spPr>
          <a:xfrm>
            <a:off x="571500" y="5989320"/>
            <a:ext cx="9951415" cy="548640"/>
          </a:xfrm>
          <a:prstGeom prst="rect">
            <a:avLst/>
          </a:prstGeom>
          <a:noFill/>
        </p:spPr>
        <p:txBody>
          <a:bodyPr wrap="square" lIns="45720" rIns="45720" tIns="18288" bIns="18288" anchor="b"/>
          <a:lstStyle/>
          <a:p>
            <a:pPr algn="l"/>
            <a:r>
              <a:rPr sz="1200" b="0">
                <a:solidFill>
                  <a:srgbClr val="111111"/>
                </a:solidFill>
                <a:latin typeface="Arial"/>
                <a:ea typeface="Arial"/>
                <a:cs typeface="Arial"/>
              </a:rPr>
              <a:t>Cálculos propios, informe sección 4 · siniestralidad de microseguros (R35, p. 172)</a:t>
            </a:r>
          </a:p>
        </p:txBody>
      </p:sp>
      <p:sp>
        <p:nvSpPr>
          <p:cNvPr id="4" name="TextBox 3"/>
          <p:cNvSpPr txBox="1"/>
          <p:nvPr/>
        </p:nvSpPr>
        <p:spPr>
          <a:xfrm>
            <a:off x="10705795" y="6263640"/>
            <a:ext cx="914400" cy="274320"/>
          </a:xfrm>
          <a:prstGeom prst="rect">
            <a:avLst/>
          </a:prstGeom>
          <a:noFill/>
        </p:spPr>
        <p:txBody>
          <a:bodyPr wrap="square" lIns="45720" rIns="45720" tIns="18288" bIns="18288" anchor="b"/>
          <a:lstStyle/>
          <a:p>
            <a:pPr algn="r"/>
            <a:r>
              <a:rPr sz="1200" b="0">
                <a:solidFill>
                  <a:srgbClr val="111111"/>
                </a:solidFill>
                <a:latin typeface="Arial"/>
                <a:ea typeface="Arial"/>
                <a:cs typeface="Arial"/>
              </a:rPr>
              <a:t>5</a:t>
            </a:r>
          </a:p>
        </p:txBody>
      </p:sp>
      <p:graphicFrame>
        <p:nvGraphicFramePr>
          <p:cNvPr id="5" name="Table 4"/>
          <p:cNvGraphicFramePr>
            <a:graphicFrameLocks noGrp="1"/>
          </p:cNvGraphicFramePr>
          <p:nvPr/>
        </p:nvGraphicFramePr>
        <p:xfrm>
          <a:off x="571500" y="1920240"/>
          <a:ext cx="11048695" cy="3200400"/>
        </p:xfrm>
        <a:graphic>
          <a:graphicData uri="http://schemas.openxmlformats.org/drawingml/2006/table">
            <a:tbl>
              <a:tblPr>
                <a:tableStyleId>{5C22544A-7EE6-4342-B048-85BDC9FD1C3A}</a:tableStyleId>
              </a:tblPr>
              <a:tblGrid>
                <a:gridCol w="4206240"/>
                <a:gridCol w="6842455"/>
              </a:tblGrid>
              <a:tr h="1600200">
                <a:tc>
                  <a:txBody>
                    <a:bodyPr wrap="square"/>
                    <a:lstStyle/>
                    <a:p>
                      <a:pPr algn="l"/>
                      <a:r>
                        <a:rPr sz="3200" b="0" strike="sngStrike">
                          <a:solidFill>
                            <a:srgbClr val="111111"/>
                          </a:solidFill>
                          <a:latin typeface="Arial"/>
                          <a:ea typeface="Arial"/>
                          <a:cs typeface="Arial"/>
                        </a:rPr>
                        <a:t>Préstamo diario</a:t>
                      </a:r>
                    </a:p>
                  </a:txBody>
                  <a:tcPr anchor="ctr" marL="91440">
                    <a:solidFill>
                      <a:srgbClr val="FFFFFF"/>
                    </a:solidFill>
                    <a:lnL w="0">
                      <a:noFill/>
                    </a:lnL>
                    <a:lnR w="0">
                      <a:noFill/>
                    </a:lnR>
                    <a:lnT w="12700">
                      <a:solidFill>
                        <a:srgbClr val="111111"/>
                      </a:solidFill>
                    </a:lnT>
                    <a:lnB w="12700">
                      <a:solidFill>
                        <a:srgbClr val="111111"/>
                      </a:solidFill>
                    </a:lnB>
                  </a:tcPr>
                </a:tc>
                <a:tc>
                  <a:txBody>
                    <a:bodyPr wrap="square"/>
                    <a:lstStyle/>
                    <a:p>
                      <a:pPr algn="l"/>
                      <a:r>
                        <a:rPr sz="4800" b="1">
                          <a:solidFill>
                            <a:srgbClr val="1558B0"/>
                          </a:solidFill>
                          <a:latin typeface="Arial"/>
                          <a:ea typeface="Arial"/>
                          <a:cs typeface="Arial"/>
                        </a:rPr>
                        <a:t>$5.857 a -$26.143</a:t>
                      </a:r>
                    </a:p>
                    <a:p>
                      <a:pPr algn="l"/>
                      <a:r>
                        <a:rPr sz="2400" b="0">
                          <a:solidFill>
                            <a:srgbClr val="111111"/>
                          </a:solidFill>
                          <a:latin typeface="Arial"/>
                          <a:ea typeface="Arial"/>
                          <a:cs typeface="Arial"/>
                        </a:rPr>
                        <a:t>al año</a:t>
                      </a:r>
                    </a:p>
                  </a:txBody>
                  <a:tcPr anchor="ctr" marL="91440">
                    <a:solidFill>
                      <a:srgbClr val="FFFFFF"/>
                    </a:solidFill>
                    <a:lnL w="0">
                      <a:noFill/>
                    </a:lnL>
                    <a:lnR w="0">
                      <a:noFill/>
                    </a:lnR>
                    <a:lnT w="12700">
                      <a:solidFill>
                        <a:srgbClr val="111111"/>
                      </a:solidFill>
                    </a:lnT>
                    <a:lnB w="12700">
                      <a:solidFill>
                        <a:srgbClr val="111111"/>
                      </a:solidFill>
                    </a:lnB>
                  </a:tcPr>
                </a:tc>
              </a:tr>
              <a:tr h="1600200">
                <a:tc>
                  <a:txBody>
                    <a:bodyPr wrap="square"/>
                    <a:lstStyle/>
                    <a:p>
                      <a:pPr algn="l"/>
                      <a:r>
                        <a:rPr sz="3200" b="0" strike="sngStrike">
                          <a:solidFill>
                            <a:srgbClr val="111111"/>
                          </a:solidFill>
                          <a:latin typeface="Arial"/>
                          <a:ea typeface="Arial"/>
                          <a:cs typeface="Arial"/>
                        </a:rPr>
                        <a:t>Seguro de lluvia</a:t>
                      </a:r>
                    </a:p>
                  </a:txBody>
                  <a:tcPr anchor="ctr" marL="91440">
                    <a:solidFill>
                      <a:srgbClr val="FFFFFF"/>
                    </a:solidFill>
                    <a:lnL w="0">
                      <a:noFill/>
                    </a:lnL>
                    <a:lnR w="0">
                      <a:noFill/>
                    </a:lnR>
                    <a:lnT w="0">
                      <a:noFill/>
                    </a:lnT>
                    <a:lnB w="12700">
                      <a:solidFill>
                        <a:srgbClr val="111111"/>
                      </a:solidFill>
                    </a:lnB>
                  </a:tcPr>
                </a:tc>
                <a:tc>
                  <a:txBody>
                    <a:bodyPr wrap="square"/>
                    <a:lstStyle/>
                    <a:p>
                      <a:pPr algn="l"/>
                      <a:r>
                        <a:rPr sz="4800" b="1">
                          <a:solidFill>
                            <a:srgbClr val="1558B0"/>
                          </a:solidFill>
                          <a:latin typeface="Arial"/>
                          <a:ea typeface="Arial"/>
                          <a:cs typeface="Arial"/>
                        </a:rPr>
                        <a:t>43%</a:t>
                      </a:r>
                    </a:p>
                    <a:p>
                      <a:pPr algn="l"/>
                      <a:r>
                        <a:rPr sz="2400" b="0">
                          <a:solidFill>
                            <a:srgbClr val="111111"/>
                          </a:solidFill>
                          <a:latin typeface="Arial"/>
                          <a:ea typeface="Arial"/>
                          <a:cs typeface="Arial"/>
                        </a:rPr>
                        <a:t>del ingreso, cada día</a:t>
                      </a:r>
                    </a:p>
                  </a:txBody>
                  <a:tcPr anchor="ctr" marL="91440">
                    <a:solidFill>
                      <a:srgbClr val="FFFFFF"/>
                    </a:solidFill>
                    <a:lnL w="0">
                      <a:noFill/>
                    </a:lnL>
                    <a:lnR w="0">
                      <a:noFill/>
                    </a:lnR>
                    <a:lnT w="0">
                      <a:noFill/>
                    </a:lnT>
                    <a:lnB w="12700">
                      <a:solidFill>
                        <a:srgbClr val="111111"/>
                      </a:solidFill>
                    </a:lnB>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502920"/>
            <a:ext cx="11048695" cy="1188720"/>
          </a:xfrm>
          <a:prstGeom prst="rect">
            <a:avLst/>
          </a:prstGeom>
          <a:noFill/>
        </p:spPr>
        <p:txBody>
          <a:bodyPr wrap="square" lIns="45720" rIns="45720" tIns="18288" bIns="18288" anchor="t"/>
          <a:lstStyle/>
          <a:p>
            <a:pPr algn="l"/>
            <a:r>
              <a:rPr sz="3600" b="1">
                <a:solidFill>
                  <a:srgbClr val="111111"/>
                </a:solidFill>
                <a:latin typeface="Arial"/>
                <a:ea typeface="Arial"/>
                <a:cs typeface="Arial"/>
              </a:rPr>
              <a:t>Un dato público corre la fecha: una pieza, cuatro puntos</a:t>
            </a:r>
          </a:p>
        </p:txBody>
      </p:sp>
      <p:sp>
        <p:nvSpPr>
          <p:cNvPr id="3" name="TextBox 2"/>
          <p:cNvSpPr txBox="1"/>
          <p:nvPr/>
        </p:nvSpPr>
        <p:spPr>
          <a:xfrm>
            <a:off x="10705795" y="6263640"/>
            <a:ext cx="914400" cy="274320"/>
          </a:xfrm>
          <a:prstGeom prst="rect">
            <a:avLst/>
          </a:prstGeom>
          <a:noFill/>
        </p:spPr>
        <p:txBody>
          <a:bodyPr wrap="square" lIns="45720" rIns="45720" tIns="18288" bIns="18288" anchor="b"/>
          <a:lstStyle/>
          <a:p>
            <a:pPr algn="r"/>
            <a:r>
              <a:rPr sz="1200" b="0">
                <a:solidFill>
                  <a:srgbClr val="111111"/>
                </a:solidFill>
                <a:latin typeface="Arial"/>
                <a:ea typeface="Arial"/>
                <a:cs typeface="Arial"/>
              </a:rPr>
              <a:t>6</a:t>
            </a:r>
          </a:p>
        </p:txBody>
      </p:sp>
      <p:cxnSp>
        <p:nvCxnSpPr>
          <p:cNvPr id="4" name="Connector 3"/>
          <p:cNvCxnSpPr/>
          <p:nvPr/>
        </p:nvCxnSpPr>
        <p:spPr>
          <a:xfrm>
            <a:off x="6095847" y="1828800"/>
            <a:ext cx="0" cy="402336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71500" y="3840480"/>
            <a:ext cx="11048695"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5867247" y="3611880"/>
            <a:ext cx="457200" cy="457200"/>
          </a:xfrm>
          <a:prstGeom prst="ellipse">
            <a:avLst/>
          </a:prstGeom>
          <a:solidFill>
            <a:srgbClr val="155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1500" y="1828800"/>
            <a:ext cx="5158587" cy="1828800"/>
          </a:xfrm>
          <a:prstGeom prst="rect">
            <a:avLst/>
          </a:prstGeom>
          <a:noFill/>
        </p:spPr>
        <p:txBody>
          <a:bodyPr wrap="square" lIns="45720" rIns="45720" tIns="18288" bIns="18288" anchor="ctr"/>
          <a:lstStyle/>
          <a:p>
            <a:pPr algn="ctr"/>
            <a:r>
              <a:rPr sz="2800" b="0">
                <a:solidFill>
                  <a:srgbClr val="111111"/>
                </a:solidFill>
                <a:latin typeface="Arial"/>
                <a:ea typeface="Arial"/>
                <a:cs typeface="Arial"/>
              </a:rPr>
              <a:t>No presto</a:t>
            </a:r>
          </a:p>
        </p:txBody>
      </p:sp>
      <p:sp>
        <p:nvSpPr>
          <p:cNvPr id="8" name="TextBox 7"/>
          <p:cNvSpPr txBox="1"/>
          <p:nvPr/>
        </p:nvSpPr>
        <p:spPr>
          <a:xfrm>
            <a:off x="6461607" y="1828800"/>
            <a:ext cx="5158587" cy="1828800"/>
          </a:xfrm>
          <a:prstGeom prst="rect">
            <a:avLst/>
          </a:prstGeom>
          <a:noFill/>
        </p:spPr>
        <p:txBody>
          <a:bodyPr wrap="square" lIns="45720" rIns="45720" tIns="18288" bIns="18288" anchor="ctr"/>
          <a:lstStyle/>
          <a:p>
            <a:pPr algn="ctr"/>
            <a:r>
              <a:rPr sz="2800" b="0">
                <a:solidFill>
                  <a:srgbClr val="111111"/>
                </a:solidFill>
                <a:latin typeface="Arial"/>
                <a:ea typeface="Arial"/>
                <a:cs typeface="Arial"/>
              </a:rPr>
              <a:t>Solo el día sin venta</a:t>
            </a:r>
          </a:p>
        </p:txBody>
      </p:sp>
      <p:sp>
        <p:nvSpPr>
          <p:cNvPr id="9" name="TextBox 8"/>
          <p:cNvSpPr txBox="1"/>
          <p:nvPr/>
        </p:nvSpPr>
        <p:spPr>
          <a:xfrm>
            <a:off x="571500" y="4023360"/>
            <a:ext cx="5158587" cy="1828800"/>
          </a:xfrm>
          <a:prstGeom prst="rect">
            <a:avLst/>
          </a:prstGeom>
          <a:noFill/>
        </p:spPr>
        <p:txBody>
          <a:bodyPr wrap="square" lIns="45720" rIns="45720" tIns="18288" bIns="18288" anchor="ctr"/>
          <a:lstStyle/>
          <a:p>
            <a:pPr algn="ctr"/>
            <a:r>
              <a:rPr sz="2800" b="0">
                <a:solidFill>
                  <a:srgbClr val="111111"/>
                </a:solidFill>
                <a:latin typeface="Arial"/>
                <a:ea typeface="Arial"/>
                <a:cs typeface="Arial"/>
              </a:rPr>
              <a:t>Su minorista de siempre</a:t>
            </a:r>
          </a:p>
        </p:txBody>
      </p:sp>
      <p:sp>
        <p:nvSpPr>
          <p:cNvPr id="10" name="TextBox 9"/>
          <p:cNvSpPr txBox="1"/>
          <p:nvPr/>
        </p:nvSpPr>
        <p:spPr>
          <a:xfrm>
            <a:off x="6461607" y="4023360"/>
            <a:ext cx="5158587" cy="1828800"/>
          </a:xfrm>
          <a:prstGeom prst="rect">
            <a:avLst/>
          </a:prstGeom>
          <a:noFill/>
        </p:spPr>
        <p:txBody>
          <a:bodyPr wrap="square" lIns="45720" rIns="45720" tIns="18288" bIns="18288" anchor="ctr"/>
          <a:lstStyle/>
          <a:p>
            <a:pPr algn="ctr"/>
            <a:r>
              <a:rPr sz="2800" b="0">
                <a:solidFill>
                  <a:srgbClr val="111111"/>
                </a:solidFill>
                <a:latin typeface="Arial"/>
                <a:ea typeface="Arial"/>
                <a:cs typeface="Arial"/>
              </a:rPr>
              <a:t>Plazo por dato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502920"/>
            <a:ext cx="11048695" cy="1188720"/>
          </a:xfrm>
          <a:prstGeom prst="rect">
            <a:avLst/>
          </a:prstGeom>
          <a:noFill/>
        </p:spPr>
        <p:txBody>
          <a:bodyPr wrap="square" lIns="45720" rIns="45720" tIns="18288" bIns="18288" anchor="t"/>
          <a:lstStyle/>
          <a:p>
            <a:pPr algn="l"/>
            <a:r>
              <a:rPr sz="3200" b="1">
                <a:solidFill>
                  <a:srgbClr val="111111"/>
                </a:solidFill>
                <a:latin typeface="Arial"/>
                <a:ea typeface="Arial"/>
                <a:cs typeface="Arial"/>
              </a:rPr>
              <a:t>Si no cierra, será por volumen y tarifa, no por riesgo de crédito</a:t>
            </a:r>
          </a:p>
        </p:txBody>
      </p:sp>
      <p:sp>
        <p:nvSpPr>
          <p:cNvPr id="3" name="TextBox 2"/>
          <p:cNvSpPr txBox="1"/>
          <p:nvPr/>
        </p:nvSpPr>
        <p:spPr>
          <a:xfrm>
            <a:off x="571500" y="5989320"/>
            <a:ext cx="9951415" cy="548640"/>
          </a:xfrm>
          <a:prstGeom prst="rect">
            <a:avLst/>
          </a:prstGeom>
          <a:noFill/>
        </p:spPr>
        <p:txBody>
          <a:bodyPr wrap="square" lIns="45720" rIns="45720" tIns="18288" bIns="18288" anchor="b"/>
          <a:lstStyle/>
          <a:p>
            <a:pPr algn="l"/>
            <a:r>
              <a:rPr sz="1200" b="0">
                <a:solidFill>
                  <a:srgbClr val="111111"/>
                </a:solidFill>
                <a:latin typeface="Arial"/>
                <a:ea typeface="Arial"/>
                <a:cs typeface="Arial"/>
              </a:rPr>
              <a:t>Prototipo en Excel, 3 días de lluvia simulados (Anexo B) · $4.000 de $161.200 al mes, supuestos [S] · con salario, mes 22 (Tabla 3)</a:t>
            </a:r>
          </a:p>
        </p:txBody>
      </p:sp>
      <p:sp>
        <p:nvSpPr>
          <p:cNvPr id="4" name="TextBox 3"/>
          <p:cNvSpPr txBox="1"/>
          <p:nvPr/>
        </p:nvSpPr>
        <p:spPr>
          <a:xfrm>
            <a:off x="10705795" y="6263640"/>
            <a:ext cx="914400" cy="274320"/>
          </a:xfrm>
          <a:prstGeom prst="rect">
            <a:avLst/>
          </a:prstGeom>
          <a:noFill/>
        </p:spPr>
        <p:txBody>
          <a:bodyPr wrap="square" lIns="45720" rIns="45720" tIns="18288" bIns="18288" anchor="b"/>
          <a:lstStyle/>
          <a:p>
            <a:pPr algn="r"/>
            <a:r>
              <a:rPr sz="1200" b="0">
                <a:solidFill>
                  <a:srgbClr val="111111"/>
                </a:solidFill>
                <a:latin typeface="Arial"/>
                <a:ea typeface="Arial"/>
                <a:cs typeface="Arial"/>
              </a:rPr>
              <a:t>7</a:t>
            </a:r>
          </a:p>
        </p:txBody>
      </p:sp>
      <p:sp>
        <p:nvSpPr>
          <p:cNvPr id="5" name="TextBox 4"/>
          <p:cNvSpPr txBox="1"/>
          <p:nvPr/>
        </p:nvSpPr>
        <p:spPr>
          <a:xfrm>
            <a:off x="571500" y="2011680"/>
            <a:ext cx="3682898" cy="457200"/>
          </a:xfrm>
          <a:prstGeom prst="rect">
            <a:avLst/>
          </a:prstGeom>
          <a:noFill/>
        </p:spPr>
        <p:txBody>
          <a:bodyPr wrap="square" lIns="45720" rIns="45720" tIns="18288" bIns="18288" anchor="t"/>
          <a:lstStyle/>
          <a:p>
            <a:pPr algn="ctr"/>
            <a:r>
              <a:rPr sz="2400" b="1">
                <a:solidFill>
                  <a:srgbClr val="111111"/>
                </a:solidFill>
                <a:latin typeface="Arial"/>
                <a:ea typeface="Arial"/>
                <a:cs typeface="Arial"/>
              </a:rPr>
              <a:t>Vendedor</a:t>
            </a:r>
          </a:p>
        </p:txBody>
      </p:sp>
      <p:sp>
        <p:nvSpPr>
          <p:cNvPr id="6" name="TextBox 5"/>
          <p:cNvSpPr txBox="1"/>
          <p:nvPr/>
        </p:nvSpPr>
        <p:spPr>
          <a:xfrm>
            <a:off x="571500" y="2560320"/>
            <a:ext cx="3682898" cy="1280160"/>
          </a:xfrm>
          <a:prstGeom prst="rect">
            <a:avLst/>
          </a:prstGeom>
          <a:noFill/>
        </p:spPr>
        <p:txBody>
          <a:bodyPr wrap="square" lIns="45720" rIns="45720" tIns="18288" bIns="18288" anchor="ctr"/>
          <a:lstStyle/>
          <a:p>
            <a:pPr algn="ctr"/>
            <a:r>
              <a:rPr sz="8000" b="1">
                <a:solidFill>
                  <a:srgbClr val="1558B0"/>
                </a:solidFill>
                <a:latin typeface="Arial"/>
                <a:ea typeface="Arial"/>
                <a:cs typeface="Arial"/>
              </a:rPr>
              <a:t>0</a:t>
            </a:r>
          </a:p>
        </p:txBody>
      </p:sp>
      <p:sp>
        <p:nvSpPr>
          <p:cNvPr id="7" name="TextBox 6"/>
          <p:cNvSpPr txBox="1"/>
          <p:nvPr/>
        </p:nvSpPr>
        <p:spPr>
          <a:xfrm>
            <a:off x="571500" y="3931920"/>
            <a:ext cx="3682898" cy="457200"/>
          </a:xfrm>
          <a:prstGeom prst="rect">
            <a:avLst/>
          </a:prstGeom>
          <a:noFill/>
        </p:spPr>
        <p:txBody>
          <a:bodyPr wrap="square" lIns="45720" rIns="45720" tIns="18288" bIns="18288" anchor="t"/>
          <a:lstStyle/>
          <a:p>
            <a:pPr algn="ctr"/>
            <a:r>
              <a:rPr sz="2400" b="0">
                <a:solidFill>
                  <a:srgbClr val="111111"/>
                </a:solidFill>
                <a:latin typeface="Arial"/>
                <a:ea typeface="Arial"/>
                <a:cs typeface="Arial"/>
              </a:rPr>
              <a:t>pendiente</a:t>
            </a:r>
          </a:p>
        </p:txBody>
      </p:sp>
      <p:sp>
        <p:nvSpPr>
          <p:cNvPr id="8" name="TextBox 7"/>
          <p:cNvSpPr txBox="1"/>
          <p:nvPr/>
        </p:nvSpPr>
        <p:spPr>
          <a:xfrm>
            <a:off x="4254398" y="2011680"/>
            <a:ext cx="3682898" cy="457200"/>
          </a:xfrm>
          <a:prstGeom prst="rect">
            <a:avLst/>
          </a:prstGeom>
          <a:noFill/>
        </p:spPr>
        <p:txBody>
          <a:bodyPr wrap="square" lIns="45720" rIns="45720" tIns="18288" bIns="18288" anchor="t"/>
          <a:lstStyle/>
          <a:p>
            <a:pPr algn="ctr"/>
            <a:r>
              <a:rPr sz="2400" b="1">
                <a:solidFill>
                  <a:srgbClr val="111111"/>
                </a:solidFill>
                <a:latin typeface="Arial"/>
                <a:ea typeface="Arial"/>
                <a:cs typeface="Arial"/>
              </a:rPr>
              <a:t>Quien fía</a:t>
            </a:r>
          </a:p>
        </p:txBody>
      </p:sp>
      <p:sp>
        <p:nvSpPr>
          <p:cNvPr id="9" name="TextBox 8"/>
          <p:cNvSpPr txBox="1"/>
          <p:nvPr/>
        </p:nvSpPr>
        <p:spPr>
          <a:xfrm>
            <a:off x="4254398" y="2560320"/>
            <a:ext cx="3682898" cy="1280160"/>
          </a:xfrm>
          <a:prstGeom prst="rect">
            <a:avLst/>
          </a:prstGeom>
          <a:noFill/>
        </p:spPr>
        <p:txBody>
          <a:bodyPr wrap="square" lIns="45720" rIns="45720" tIns="18288" bIns="18288" anchor="ctr"/>
          <a:lstStyle/>
          <a:p>
            <a:pPr algn="ctr"/>
            <a:r>
              <a:rPr sz="8000" b="1">
                <a:solidFill>
                  <a:srgbClr val="1558B0"/>
                </a:solidFill>
                <a:latin typeface="Arial"/>
                <a:ea typeface="Arial"/>
                <a:cs typeface="Arial"/>
              </a:rPr>
              <a:t>2,5%</a:t>
            </a:r>
          </a:p>
        </p:txBody>
      </p:sp>
      <p:sp>
        <p:nvSpPr>
          <p:cNvPr id="10" name="TextBox 9"/>
          <p:cNvSpPr txBox="1"/>
          <p:nvPr/>
        </p:nvSpPr>
        <p:spPr>
          <a:xfrm>
            <a:off x="4254398" y="3931920"/>
            <a:ext cx="3682898" cy="457200"/>
          </a:xfrm>
          <a:prstGeom prst="rect">
            <a:avLst/>
          </a:prstGeom>
          <a:noFill/>
        </p:spPr>
        <p:txBody>
          <a:bodyPr wrap="square" lIns="45720" rIns="45720" tIns="18288" bIns="18288" anchor="t"/>
          <a:lstStyle/>
          <a:p>
            <a:pPr algn="ctr"/>
            <a:r>
              <a:rPr sz="2400" b="0">
                <a:solidFill>
                  <a:srgbClr val="111111"/>
                </a:solidFill>
                <a:latin typeface="Arial"/>
                <a:ea typeface="Arial"/>
                <a:cs typeface="Arial"/>
              </a:rPr>
              <a:t>de su margen</a:t>
            </a:r>
          </a:p>
        </p:txBody>
      </p:sp>
      <p:sp>
        <p:nvSpPr>
          <p:cNvPr id="11" name="TextBox 10"/>
          <p:cNvSpPr txBox="1"/>
          <p:nvPr/>
        </p:nvSpPr>
        <p:spPr>
          <a:xfrm>
            <a:off x="7937296" y="2011680"/>
            <a:ext cx="3682898" cy="457200"/>
          </a:xfrm>
          <a:prstGeom prst="rect">
            <a:avLst/>
          </a:prstGeom>
          <a:noFill/>
        </p:spPr>
        <p:txBody>
          <a:bodyPr wrap="square" lIns="45720" rIns="45720" tIns="18288" bIns="18288" anchor="t"/>
          <a:lstStyle/>
          <a:p>
            <a:pPr algn="ctr"/>
            <a:r>
              <a:rPr sz="2400" b="1">
                <a:solidFill>
                  <a:srgbClr val="111111"/>
                </a:solidFill>
                <a:latin typeface="Arial"/>
                <a:ea typeface="Arial"/>
                <a:cs typeface="Arial"/>
              </a:rPr>
              <a:t>Mi empresa</a:t>
            </a:r>
          </a:p>
        </p:txBody>
      </p:sp>
      <p:sp>
        <p:nvSpPr>
          <p:cNvPr id="12" name="TextBox 11"/>
          <p:cNvSpPr txBox="1"/>
          <p:nvPr/>
        </p:nvSpPr>
        <p:spPr>
          <a:xfrm>
            <a:off x="7937296" y="2560320"/>
            <a:ext cx="3682898" cy="1280160"/>
          </a:xfrm>
          <a:prstGeom prst="rect">
            <a:avLst/>
          </a:prstGeom>
          <a:noFill/>
        </p:spPr>
        <p:txBody>
          <a:bodyPr wrap="square" lIns="45720" rIns="45720" tIns="18288" bIns="18288" anchor="ctr"/>
          <a:lstStyle/>
          <a:p>
            <a:pPr algn="ctr"/>
            <a:r>
              <a:rPr sz="8000" b="1">
                <a:solidFill>
                  <a:srgbClr val="1558B0"/>
                </a:solidFill>
                <a:latin typeface="Arial"/>
                <a:ea typeface="Arial"/>
                <a:cs typeface="Arial"/>
              </a:rPr>
              <a:t>Mes 10</a:t>
            </a:r>
          </a:p>
        </p:txBody>
      </p:sp>
      <p:sp>
        <p:nvSpPr>
          <p:cNvPr id="13" name="TextBox 12"/>
          <p:cNvSpPr txBox="1"/>
          <p:nvPr/>
        </p:nvSpPr>
        <p:spPr>
          <a:xfrm>
            <a:off x="7937296" y="3931920"/>
            <a:ext cx="3682898" cy="457200"/>
          </a:xfrm>
          <a:prstGeom prst="rect">
            <a:avLst/>
          </a:prstGeom>
          <a:noFill/>
        </p:spPr>
        <p:txBody>
          <a:bodyPr wrap="square" lIns="45720" rIns="45720" tIns="18288" bIns="18288" anchor="t"/>
          <a:lstStyle/>
          <a:p>
            <a:pPr algn="ctr"/>
            <a:r>
              <a:rPr sz="2400" b="0">
                <a:solidFill>
                  <a:srgbClr val="111111"/>
                </a:solidFill>
                <a:latin typeface="Arial"/>
                <a:ea typeface="Arial"/>
                <a:cs typeface="Arial"/>
              </a:rPr>
              <a:t>sin salario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502920"/>
            <a:ext cx="11048695" cy="1188720"/>
          </a:xfrm>
          <a:prstGeom prst="rect">
            <a:avLst/>
          </a:prstGeom>
          <a:noFill/>
        </p:spPr>
        <p:txBody>
          <a:bodyPr wrap="square" lIns="45720" rIns="45720" tIns="18288" bIns="18288" anchor="t"/>
          <a:lstStyle/>
          <a:p>
            <a:pPr algn="l"/>
            <a:r>
              <a:rPr sz="3200" b="1">
                <a:solidFill>
                  <a:srgbClr val="111111"/>
                </a:solidFill>
                <a:latin typeface="Arial"/>
                <a:ea typeface="Arial"/>
                <a:cs typeface="Arial"/>
              </a:rPr>
              <a:t>Primero la pregunta que la mata; después, un día de lluvia paso a paso</a:t>
            </a:r>
          </a:p>
        </p:txBody>
      </p:sp>
      <p:sp>
        <p:nvSpPr>
          <p:cNvPr id="3" name="TextBox 2"/>
          <p:cNvSpPr txBox="1"/>
          <p:nvPr/>
        </p:nvSpPr>
        <p:spPr>
          <a:xfrm>
            <a:off x="571500" y="5989320"/>
            <a:ext cx="9951415" cy="548640"/>
          </a:xfrm>
          <a:prstGeom prst="rect">
            <a:avLst/>
          </a:prstGeom>
          <a:noFill/>
        </p:spPr>
        <p:txBody>
          <a:bodyPr wrap="square" lIns="45720" rIns="45720" tIns="18288" bIns="18288" anchor="b"/>
          <a:lstStyle/>
          <a:p>
            <a:pPr algn="l"/>
            <a:r>
              <a:rPr sz="1200" b="0">
                <a:solidFill>
                  <a:srgbClr val="111111"/>
                </a:solidFill>
                <a:latin typeface="Arial"/>
                <a:ea typeface="Arial"/>
                <a:cs typeface="Arial"/>
              </a:rPr>
              <a:t>Sección 4, "Cómo sé si me equivoqué" · Tabla 2 del informe.</a:t>
            </a:r>
          </a:p>
        </p:txBody>
      </p:sp>
      <p:sp>
        <p:nvSpPr>
          <p:cNvPr id="4" name="TextBox 3"/>
          <p:cNvSpPr txBox="1"/>
          <p:nvPr/>
        </p:nvSpPr>
        <p:spPr>
          <a:xfrm>
            <a:off x="10705795" y="6263640"/>
            <a:ext cx="914400" cy="274320"/>
          </a:xfrm>
          <a:prstGeom prst="rect">
            <a:avLst/>
          </a:prstGeom>
          <a:noFill/>
        </p:spPr>
        <p:txBody>
          <a:bodyPr wrap="square" lIns="45720" rIns="45720" tIns="18288" bIns="18288" anchor="b"/>
          <a:lstStyle/>
          <a:p>
            <a:pPr algn="r"/>
            <a:r>
              <a:rPr sz="1200" b="0">
                <a:solidFill>
                  <a:srgbClr val="111111"/>
                </a:solidFill>
                <a:latin typeface="Arial"/>
                <a:ea typeface="Arial"/>
                <a:cs typeface="Arial"/>
              </a:rPr>
              <a:t>8</a:t>
            </a:r>
          </a:p>
        </p:txBody>
      </p:sp>
      <p:cxnSp>
        <p:nvCxnSpPr>
          <p:cNvPr id="5" name="Connector 4"/>
          <p:cNvCxnSpPr/>
          <p:nvPr/>
        </p:nvCxnSpPr>
        <p:spPr>
          <a:xfrm>
            <a:off x="1668780" y="3017520"/>
            <a:ext cx="8854135" cy="0"/>
          </a:xfrm>
          <a:prstGeom prst="line">
            <a:avLst/>
          </a:prstGeom>
          <a:ln w="25400">
            <a:solidFill>
              <a:srgbClr val="111111"/>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485900" y="2834639"/>
            <a:ext cx="365760" cy="365760"/>
          </a:xfrm>
          <a:prstGeom prst="ellipse">
            <a:avLst/>
          </a:prstGeom>
          <a:solidFill>
            <a:srgbClr val="155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0059" y="3429000"/>
            <a:ext cx="2377440" cy="1097280"/>
          </a:xfrm>
          <a:prstGeom prst="rect">
            <a:avLst/>
          </a:prstGeom>
          <a:noFill/>
        </p:spPr>
        <p:txBody>
          <a:bodyPr wrap="square" lIns="45720" rIns="45720" tIns="18288" bIns="18288" anchor="t"/>
          <a:lstStyle/>
          <a:p>
            <a:pPr algn="ctr"/>
            <a:r>
              <a:rPr sz="2400" b="1">
                <a:solidFill>
                  <a:srgbClr val="111111"/>
                </a:solidFill>
                <a:latin typeface="Arial"/>
                <a:ea typeface="Arial"/>
                <a:cs typeface="Arial"/>
              </a:rPr>
              <a:t>Antes:</a:t>
            </a:r>
          </a:p>
          <a:p>
            <a:pPr algn="ctr"/>
            <a:r>
              <a:rPr sz="2400" b="0">
                <a:solidFill>
                  <a:srgbClr val="111111"/>
                </a:solidFill>
                <a:latin typeface="Arial"/>
                <a:ea typeface="Arial"/>
                <a:cs typeface="Arial"/>
              </a:rPr>
              <a:t>6 vendedores</a:t>
            </a:r>
          </a:p>
        </p:txBody>
      </p:sp>
      <p:sp>
        <p:nvSpPr>
          <p:cNvPr id="8" name="Oval 7"/>
          <p:cNvSpPr/>
          <p:nvPr/>
        </p:nvSpPr>
        <p:spPr>
          <a:xfrm>
            <a:off x="3699433" y="2834639"/>
            <a:ext cx="365760" cy="36576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93593" y="3429000"/>
            <a:ext cx="2377440" cy="1097280"/>
          </a:xfrm>
          <a:prstGeom prst="rect">
            <a:avLst/>
          </a:prstGeom>
          <a:noFill/>
        </p:spPr>
        <p:txBody>
          <a:bodyPr wrap="square" lIns="45720" rIns="45720" tIns="18288" bIns="18288" anchor="t"/>
          <a:lstStyle/>
          <a:p>
            <a:pPr algn="ctr"/>
            <a:r>
              <a:rPr sz="2400" b="1">
                <a:solidFill>
                  <a:srgbClr val="111111"/>
                </a:solidFill>
                <a:latin typeface="Arial"/>
                <a:ea typeface="Arial"/>
                <a:cs typeface="Arial"/>
              </a:rPr>
              <a:t>Semana 1:</a:t>
            </a:r>
          </a:p>
          <a:p>
            <a:pPr algn="ctr"/>
            <a:r>
              <a:rPr sz="2400" b="0">
                <a:solidFill>
                  <a:srgbClr val="111111"/>
                </a:solidFill>
                <a:latin typeface="Arial"/>
                <a:ea typeface="Arial"/>
                <a:cs typeface="Arial"/>
              </a:rPr>
              <a:t>gratis</a:t>
            </a:r>
          </a:p>
        </p:txBody>
      </p:sp>
      <p:sp>
        <p:nvSpPr>
          <p:cNvPr id="10" name="Oval 9"/>
          <p:cNvSpPr/>
          <p:nvPr/>
        </p:nvSpPr>
        <p:spPr>
          <a:xfrm>
            <a:off x="5912967" y="2834639"/>
            <a:ext cx="365760" cy="365760"/>
          </a:xfrm>
          <a:prstGeom prst="ellipse">
            <a:avLst/>
          </a:prstGeom>
          <a:solidFill>
            <a:srgbClr val="155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07127" y="3429000"/>
            <a:ext cx="2377440" cy="1097280"/>
          </a:xfrm>
          <a:prstGeom prst="rect">
            <a:avLst/>
          </a:prstGeom>
          <a:noFill/>
        </p:spPr>
        <p:txBody>
          <a:bodyPr wrap="square" lIns="45720" rIns="45720" tIns="18288" bIns="18288" anchor="t"/>
          <a:lstStyle/>
          <a:p>
            <a:pPr algn="ctr"/>
            <a:r>
              <a:rPr sz="2400" b="1">
                <a:solidFill>
                  <a:srgbClr val="111111"/>
                </a:solidFill>
                <a:latin typeface="Arial"/>
                <a:ea typeface="Arial"/>
                <a:cs typeface="Arial"/>
              </a:rPr>
              <a:t>Lluvia:</a:t>
            </a:r>
          </a:p>
          <a:p>
            <a:pPr algn="ctr"/>
            <a:r>
              <a:rPr sz="2400" b="0">
                <a:solidFill>
                  <a:srgbClr val="111111"/>
                </a:solidFill>
                <a:latin typeface="Arial"/>
                <a:ea typeface="Arial"/>
                <a:cs typeface="Arial"/>
              </a:rPr>
              <a:t>WhatsApp</a:t>
            </a:r>
          </a:p>
        </p:txBody>
      </p:sp>
      <p:sp>
        <p:nvSpPr>
          <p:cNvPr id="12" name="Oval 11"/>
          <p:cNvSpPr/>
          <p:nvPr/>
        </p:nvSpPr>
        <p:spPr>
          <a:xfrm>
            <a:off x="8126501" y="2834639"/>
            <a:ext cx="365760" cy="36576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20661" y="3429000"/>
            <a:ext cx="2377440" cy="1097280"/>
          </a:xfrm>
          <a:prstGeom prst="rect">
            <a:avLst/>
          </a:prstGeom>
          <a:noFill/>
        </p:spPr>
        <p:txBody>
          <a:bodyPr wrap="square" lIns="45720" rIns="45720" tIns="18288" bIns="18288" anchor="t"/>
          <a:lstStyle/>
          <a:p>
            <a:pPr algn="ctr"/>
            <a:r>
              <a:rPr sz="2400" b="1">
                <a:solidFill>
                  <a:srgbClr val="111111"/>
                </a:solidFill>
                <a:latin typeface="Arial"/>
                <a:ea typeface="Arial"/>
                <a:cs typeface="Arial"/>
              </a:rPr>
              <a:t>3 días:</a:t>
            </a:r>
          </a:p>
          <a:p>
            <a:pPr algn="ctr"/>
            <a:r>
              <a:rPr sz="2400" b="0">
                <a:solidFill>
                  <a:srgbClr val="111111"/>
                </a:solidFill>
                <a:latin typeface="Arial"/>
                <a:ea typeface="Arial"/>
                <a:cs typeface="Arial"/>
              </a:rPr>
              <a:t>tercios</a:t>
            </a:r>
          </a:p>
        </p:txBody>
      </p:sp>
      <p:sp>
        <p:nvSpPr>
          <p:cNvPr id="14" name="Oval 13"/>
          <p:cNvSpPr/>
          <p:nvPr/>
        </p:nvSpPr>
        <p:spPr>
          <a:xfrm>
            <a:off x="10340035" y="2834639"/>
            <a:ext cx="365760" cy="36576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34195" y="3429000"/>
            <a:ext cx="2377440" cy="1097280"/>
          </a:xfrm>
          <a:prstGeom prst="rect">
            <a:avLst/>
          </a:prstGeom>
          <a:noFill/>
        </p:spPr>
        <p:txBody>
          <a:bodyPr wrap="square" lIns="45720" rIns="45720" tIns="18288" bIns="18288" anchor="t"/>
          <a:lstStyle/>
          <a:p>
            <a:pPr algn="ctr"/>
            <a:r>
              <a:rPr sz="2400" b="1">
                <a:solidFill>
                  <a:srgbClr val="111111"/>
                </a:solidFill>
                <a:latin typeface="Arial"/>
                <a:ea typeface="Arial"/>
                <a:cs typeface="Arial"/>
              </a:rPr>
              <a:t>Mes:</a:t>
            </a:r>
          </a:p>
          <a:p>
            <a:pPr algn="ctr"/>
            <a:r>
              <a:rPr sz="2400" b="0">
                <a:solidFill>
                  <a:srgbClr val="111111"/>
                </a:solidFill>
                <a:latin typeface="Arial"/>
                <a:ea typeface="Arial"/>
                <a:cs typeface="Arial"/>
              </a:rPr>
              <a:t>Nequi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502920"/>
            <a:ext cx="11048695" cy="1188720"/>
          </a:xfrm>
          <a:prstGeom prst="rect">
            <a:avLst/>
          </a:prstGeom>
          <a:noFill/>
        </p:spPr>
        <p:txBody>
          <a:bodyPr wrap="square" lIns="45720" rIns="45720" tIns="18288" bIns="18288" anchor="t"/>
          <a:lstStyle/>
          <a:p>
            <a:pPr algn="l"/>
            <a:r>
              <a:rPr sz="3200" b="1">
                <a:solidFill>
                  <a:srgbClr val="111111"/>
                </a:solidFill>
                <a:latin typeface="Arial"/>
                <a:ea typeface="Arial"/>
                <a:cs typeface="Arial"/>
              </a:rPr>
              <a:t>El riesgo real tiene dos caras: que ya le esperen, y la caja del minorista</a:t>
            </a:r>
          </a:p>
        </p:txBody>
      </p:sp>
      <p:sp>
        <p:nvSpPr>
          <p:cNvPr id="3" name="TextBox 2"/>
          <p:cNvSpPr txBox="1"/>
          <p:nvPr/>
        </p:nvSpPr>
        <p:spPr>
          <a:xfrm>
            <a:off x="571500" y="5989320"/>
            <a:ext cx="9951415" cy="548640"/>
          </a:xfrm>
          <a:prstGeom prst="rect">
            <a:avLst/>
          </a:prstGeom>
          <a:noFill/>
        </p:spPr>
        <p:txBody>
          <a:bodyPr wrap="square" lIns="45720" rIns="45720" tIns="18288" bIns="18288" anchor="b"/>
          <a:lstStyle/>
          <a:p>
            <a:pPr algn="l"/>
            <a:r>
              <a:rPr sz="1200" b="0">
                <a:solidFill>
                  <a:srgbClr val="111111"/>
                </a:solidFill>
                <a:latin typeface="Arial"/>
                <a:ea typeface="Arial"/>
                <a:cs typeface="Arial"/>
              </a:rPr>
              <a:t>Umbral fijado antes de oír respuestas, sección 4 · Caja: sección 3, cálculo propio con supuestos [S]</a:t>
            </a:r>
          </a:p>
        </p:txBody>
      </p:sp>
      <p:sp>
        <p:nvSpPr>
          <p:cNvPr id="4" name="TextBox 3"/>
          <p:cNvSpPr txBox="1"/>
          <p:nvPr/>
        </p:nvSpPr>
        <p:spPr>
          <a:xfrm>
            <a:off x="10705795" y="6263640"/>
            <a:ext cx="914400" cy="274320"/>
          </a:xfrm>
          <a:prstGeom prst="rect">
            <a:avLst/>
          </a:prstGeom>
          <a:noFill/>
        </p:spPr>
        <p:txBody>
          <a:bodyPr wrap="square" lIns="45720" rIns="45720" tIns="18288" bIns="18288" anchor="b"/>
          <a:lstStyle/>
          <a:p>
            <a:pPr algn="r"/>
            <a:r>
              <a:rPr sz="1200" b="0">
                <a:solidFill>
                  <a:srgbClr val="111111"/>
                </a:solidFill>
                <a:latin typeface="Arial"/>
                <a:ea typeface="Arial"/>
                <a:cs typeface="Arial"/>
              </a:rPr>
              <a:t>9</a:t>
            </a:r>
          </a:p>
        </p:txBody>
      </p:sp>
      <p:sp>
        <p:nvSpPr>
          <p:cNvPr id="5" name="TextBox 4"/>
          <p:cNvSpPr txBox="1"/>
          <p:nvPr/>
        </p:nvSpPr>
        <p:spPr>
          <a:xfrm>
            <a:off x="571500" y="1828800"/>
            <a:ext cx="11048695" cy="2103120"/>
          </a:xfrm>
          <a:prstGeom prst="rect">
            <a:avLst/>
          </a:prstGeom>
          <a:noFill/>
        </p:spPr>
        <p:txBody>
          <a:bodyPr wrap="square" lIns="45720" rIns="45720" tIns="18288" bIns="18288" anchor="ctr"/>
          <a:lstStyle/>
          <a:p>
            <a:pPr algn="ctr"/>
            <a:r>
              <a:rPr sz="14000" b="1">
                <a:solidFill>
                  <a:srgbClr val="1558B0"/>
                </a:solidFill>
                <a:latin typeface="Arial"/>
                <a:ea typeface="Arial"/>
                <a:cs typeface="Arial"/>
              </a:rPr>
              <a:t>3 de 6</a:t>
            </a:r>
          </a:p>
        </p:txBody>
      </p:sp>
      <p:sp>
        <p:nvSpPr>
          <p:cNvPr id="6" name="TextBox 5"/>
          <p:cNvSpPr txBox="1"/>
          <p:nvPr/>
        </p:nvSpPr>
        <p:spPr>
          <a:xfrm>
            <a:off x="571500" y="4206240"/>
            <a:ext cx="11048695" cy="548640"/>
          </a:xfrm>
          <a:prstGeom prst="rect">
            <a:avLst/>
          </a:prstGeom>
          <a:noFill/>
        </p:spPr>
        <p:txBody>
          <a:bodyPr wrap="square" lIns="45720" rIns="45720" tIns="18288" bIns="18288" anchor="t"/>
          <a:lstStyle/>
          <a:p>
            <a:pPr algn="ctr"/>
            <a:r>
              <a:rPr sz="2400" b="0">
                <a:solidFill>
                  <a:srgbClr val="111111"/>
                </a:solidFill>
                <a:latin typeface="Arial"/>
                <a:ea typeface="Arial"/>
                <a:cs typeface="Arial"/>
              </a:rPr>
              <a:t>Caja del minorista un día de lluvia: $562.000 con 12 vendedores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05795" y="6263640"/>
            <a:ext cx="914400" cy="274320"/>
          </a:xfrm>
          <a:prstGeom prst="rect">
            <a:avLst/>
          </a:prstGeom>
          <a:noFill/>
        </p:spPr>
        <p:txBody>
          <a:bodyPr wrap="square" lIns="45720" rIns="45720" tIns="18288" bIns="18288" anchor="b"/>
          <a:lstStyle/>
          <a:p>
            <a:pPr algn="r"/>
            <a:r>
              <a:rPr sz="1200" b="0">
                <a:solidFill>
                  <a:srgbClr val="111111"/>
                </a:solidFill>
                <a:latin typeface="Arial"/>
                <a:ea typeface="Arial"/>
                <a:cs typeface="Arial"/>
              </a:rPr>
              <a:t>10</a:t>
            </a:r>
          </a:p>
        </p:txBody>
      </p:sp>
      <p:sp>
        <p:nvSpPr>
          <p:cNvPr id="3" name="TextBox 2"/>
          <p:cNvSpPr txBox="1"/>
          <p:nvPr/>
        </p:nvSpPr>
        <p:spPr>
          <a:xfrm>
            <a:off x="571500" y="1463040"/>
            <a:ext cx="11048695" cy="3840480"/>
          </a:xfrm>
          <a:prstGeom prst="rect">
            <a:avLst/>
          </a:prstGeom>
          <a:noFill/>
        </p:spPr>
        <p:txBody>
          <a:bodyPr wrap="square" lIns="45720" rIns="45720" tIns="18288" bIns="18288" anchor="ctr"/>
          <a:lstStyle/>
          <a:p>
            <a:pPr algn="ctr"/>
            <a:r>
              <a:rPr sz="4400" b="1">
                <a:solidFill>
                  <a:srgbClr val="111111"/>
                </a:solidFill>
                <a:latin typeface="Arial"/>
                <a:ea typeface="Arial"/>
                <a:cs typeface="Arial"/>
              </a:rPr>
              <a:t>Al vendedor no le falta crédito.</a:t>
            </a:r>
          </a:p>
          <a:p>
            <a:pPr algn="ctr"/>
            <a:r>
              <a:rPr sz="3600" b="0">
                <a:solidFill>
                  <a:srgbClr val="111111"/>
                </a:solidFill>
                <a:latin typeface="Arial"/>
                <a:ea typeface="Arial"/>
                <a:cs typeface="Arial"/>
              </a:rPr>
              <a:t>Le falta que </a:t>
            </a:r>
            <a:r>
              <a:rPr sz="3600" b="1">
                <a:solidFill>
                  <a:srgbClr val="1558B0"/>
                </a:solidFill>
                <a:latin typeface="Arial"/>
                <a:ea typeface="Arial"/>
                <a:cs typeface="Arial"/>
              </a:rPr>
              <a:t>un día de lluvia</a:t>
            </a:r>
            <a:r>
              <a:rPr sz="3600" b="0">
                <a:solidFill>
                  <a:srgbClr val="111111"/>
                </a:solidFill>
                <a:latin typeface="Arial"/>
                <a:ea typeface="Arial"/>
                <a:cs typeface="Arial"/>
              </a:rPr>
              <a:t> no cuente como quedar mal.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